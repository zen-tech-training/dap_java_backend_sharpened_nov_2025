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84"/>
  </p:notesMasterIdLst>
  <p:handoutMasterIdLst>
    <p:handoutMasterId r:id="rId85"/>
  </p:handoutMasterIdLst>
  <p:sldIdLst>
    <p:sldId id="1258" r:id="rId2"/>
    <p:sldId id="1279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7" r:id="rId24"/>
    <p:sldId id="28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40" r:id="rId69"/>
    <p:sldId id="341" r:id="rId70"/>
    <p:sldId id="342" r:id="rId71"/>
    <p:sldId id="343" r:id="rId72"/>
    <p:sldId id="344" r:id="rId73"/>
    <p:sldId id="345" r:id="rId74"/>
    <p:sldId id="346" r:id="rId75"/>
    <p:sldId id="347" r:id="rId76"/>
    <p:sldId id="348" r:id="rId77"/>
    <p:sldId id="349" r:id="rId78"/>
    <p:sldId id="350" r:id="rId79"/>
    <p:sldId id="351" r:id="rId80"/>
    <p:sldId id="352" r:id="rId81"/>
    <p:sldId id="353" r:id="rId82"/>
    <p:sldId id="1290" r:id="rId83"/>
  </p:sldIdLst>
  <p:sldSz cx="9144000" cy="5143500" type="screen16x9"/>
  <p:notesSz cx="6858000" cy="9144000"/>
  <p:defaultTextStyle>
    <a:defPPr>
      <a:defRPr lang="en-US"/>
    </a:defPPr>
    <a:lvl1pPr marL="0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1pPr>
    <a:lvl2pPr marL="171314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2pPr>
    <a:lvl3pPr marL="342628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3pPr>
    <a:lvl4pPr marL="513946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4pPr>
    <a:lvl5pPr marL="685263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5pPr>
    <a:lvl6pPr marL="856575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6pPr>
    <a:lvl7pPr marL="1027891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7pPr>
    <a:lvl8pPr marL="1199209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8pPr>
    <a:lvl9pPr marL="1370521" algn="l" defTabSz="171314" rtl="0" eaLnBrk="1" latinLnBrk="0" hangingPunct="1">
      <a:defRPr sz="6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2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DCED"/>
    <a:srgbClr val="8B35CB"/>
    <a:srgbClr val="FFFFFF"/>
    <a:srgbClr val="535353"/>
    <a:srgbClr val="218BFF"/>
    <a:srgbClr val="787878"/>
    <a:srgbClr val="C02E74"/>
    <a:srgbClr val="6FC8FF"/>
    <a:srgbClr val="4C77D8"/>
    <a:srgbClr val="807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3" autoAdjust="0"/>
    <p:restoredTop sz="81262" autoAdjust="0"/>
  </p:normalViewPr>
  <p:slideViewPr>
    <p:cSldViewPr snapToGrid="0">
      <p:cViewPr varScale="1">
        <p:scale>
          <a:sx n="77" d="100"/>
          <a:sy n="77" d="100"/>
        </p:scale>
        <p:origin x="1182" y="84"/>
      </p:cViewPr>
      <p:guideLst>
        <p:guide orient="horz" pos="1552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6920"/>
    </p:cViewPr>
  </p:sorterViewPr>
  <p:notesViewPr>
    <p:cSldViewPr snapToGrid="0">
      <p:cViewPr varScale="1">
        <p:scale>
          <a:sx n="67" d="100"/>
          <a:sy n="67" d="100"/>
        </p:scale>
        <p:origin x="3228" y="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5B772-2497-46E4-AF66-E1E487EFAB92}" type="datetime1">
              <a:rPr lang="de-DE" smtClean="0"/>
              <a:t>06.03.2024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www.zensar.com | © Zensar Technologies 2021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E19FD-0356-4E38-81BF-CC2CC5DB7AD8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909399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DE679-D0E3-4BC2-8AD0-419F3093C52A}" type="datetime1">
              <a:rPr lang="de-DE" smtClean="0"/>
              <a:t>06.03.2024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www.zensar.com | © Zensar Technologies 2021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1544D-F39A-4F55-BC21-9BE909A9BAC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22316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1pPr>
    <a:lvl2pPr marL="342495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2pPr>
    <a:lvl3pPr marL="684988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3pPr>
    <a:lvl4pPr marL="1027481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4pPr>
    <a:lvl5pPr marL="1369976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5pPr>
    <a:lvl6pPr marL="1712470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6pPr>
    <a:lvl7pPr marL="2054961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7pPr>
    <a:lvl8pPr marL="2397456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8pPr>
    <a:lvl9pPr marL="2739949" algn="l" defTabSz="684988" rtl="0" eaLnBrk="1" latinLnBrk="0" hangingPunct="1">
      <a:defRPr sz="8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5E5068-4404-4D5A-B2F0-E0D60B39FF36}" type="datetime1">
              <a:rPr lang="de-DE" smtClean="0"/>
              <a:t>06.03.2024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www.zensar.com | © Zensar Technologies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1544D-F39A-4F55-BC21-9BE909A9BAC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68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6" charset="0"/>
              </a:defRPr>
            </a:lvl1pPr>
            <a:lvl2pPr marL="742862" indent="-285716" eaLnBrk="0" hangingPunct="0">
              <a:defRPr sz="2400">
                <a:solidFill>
                  <a:schemeClr val="tx1"/>
                </a:solidFill>
                <a:latin typeface="Times New Roman" pitchFamily="16" charset="0"/>
              </a:defRPr>
            </a:lvl2pPr>
            <a:lvl3pPr marL="1142865" indent="-228573" eaLnBrk="0" hangingPunct="0">
              <a:defRPr sz="2400">
                <a:solidFill>
                  <a:schemeClr val="tx1"/>
                </a:solidFill>
                <a:latin typeface="Times New Roman" pitchFamily="16" charset="0"/>
              </a:defRPr>
            </a:lvl3pPr>
            <a:lvl4pPr marL="1600011" indent="-228573" eaLnBrk="0" hangingPunct="0">
              <a:defRPr sz="2400">
                <a:solidFill>
                  <a:schemeClr val="tx1"/>
                </a:solidFill>
                <a:latin typeface="Times New Roman" pitchFamily="16" charset="0"/>
              </a:defRPr>
            </a:lvl4pPr>
            <a:lvl5pPr marL="2057156" indent="-228573" eaLnBrk="0" hangingPunct="0">
              <a:defRPr sz="2400">
                <a:solidFill>
                  <a:schemeClr val="tx1"/>
                </a:solidFill>
                <a:latin typeface="Times New Roman" pitchFamily="16" charset="0"/>
              </a:defRPr>
            </a:lvl5pPr>
            <a:lvl6pPr marL="2514303" indent="-22857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6" charset="0"/>
              </a:defRPr>
            </a:lvl6pPr>
            <a:lvl7pPr marL="2971449" indent="-22857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6" charset="0"/>
              </a:defRPr>
            </a:lvl7pPr>
            <a:lvl8pPr marL="3428594" indent="-22857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6" charset="0"/>
              </a:defRPr>
            </a:lvl8pPr>
            <a:lvl9pPr marL="3885741" indent="-22857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6" charset="0"/>
              </a:defRPr>
            </a:lvl9pPr>
          </a:lstStyle>
          <a:p>
            <a:pPr eaLnBrk="1" hangingPunct="1"/>
            <a:fld id="{088D6AF4-4873-48C0-BD7A-D9034E85B28C}" type="slidenum">
              <a:rPr lang="en-GB" sz="1200"/>
              <a:pPr eaLnBrk="1" hangingPunct="1"/>
              <a:t>2</a:t>
            </a:fld>
            <a:endParaRPr lang="en-GB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dirty="0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order to have descending sorting, use </a:t>
            </a:r>
            <a:r>
              <a:rPr lang="en-US" dirty="0" err="1">
                <a:solidFill>
                  <a:srgbClr val="FF0000"/>
                </a:solidFill>
              </a:rPr>
              <a:t>Comparator.</a:t>
            </a:r>
            <a:r>
              <a:rPr lang="en-US" i="1" dirty="0" err="1">
                <a:solidFill>
                  <a:srgbClr val="FF0000"/>
                </a:solidFill>
              </a:rPr>
              <a:t>comparing</a:t>
            </a:r>
            <a:r>
              <a:rPr lang="en-US" i="1" dirty="0">
                <a:solidFill>
                  <a:srgbClr val="FF0000"/>
                </a:solidFill>
              </a:rPr>
              <a:t>(Order::</a:t>
            </a:r>
            <a:r>
              <a:rPr lang="en-US" i="1" dirty="0" err="1">
                <a:solidFill>
                  <a:srgbClr val="FF0000"/>
                </a:solidFill>
              </a:rPr>
              <a:t>getPrice</a:t>
            </a:r>
            <a:r>
              <a:rPr lang="en-US" i="1" dirty="0">
                <a:solidFill>
                  <a:srgbClr val="FF0000"/>
                </a:solidFill>
              </a:rPr>
              <a:t>).reversed()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F125F4-9DDA-44AC-A455-8795B6A7ECE4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3.jpe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010" y="414105"/>
            <a:ext cx="9160019" cy="4723743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88"/>
          <p:cNvSpPr/>
          <p:nvPr userDrawn="1"/>
        </p:nvSpPr>
        <p:spPr>
          <a:xfrm>
            <a:off x="5606429" y="101105"/>
            <a:ext cx="2130667" cy="0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17139" tIns="17139" rIns="17139" bIns="17139"/>
          <a:lstStyle/>
          <a:p>
            <a:endParaRPr sz="253" dirty="0">
              <a:latin typeface="Arial Narrow" panose="020B0606020202030204" pitchFamily="34" charset="0"/>
            </a:endParaRPr>
          </a:p>
        </p:txBody>
      </p:sp>
      <p:sp>
        <p:nvSpPr>
          <p:cNvPr id="8" name="Shape 187"/>
          <p:cNvSpPr/>
          <p:nvPr userDrawn="1"/>
        </p:nvSpPr>
        <p:spPr>
          <a:xfrm>
            <a:off x="-6097" y="392921"/>
            <a:ext cx="9156194" cy="4756577"/>
          </a:xfrm>
          <a:prstGeom prst="rect">
            <a:avLst/>
          </a:prstGeom>
          <a:gradFill>
            <a:gsLst>
              <a:gs pos="0">
                <a:srgbClr val="00B5FF">
                  <a:alpha val="60713"/>
                </a:srgbClr>
              </a:gs>
              <a:gs pos="51263">
                <a:srgbClr val="4C62D2">
                  <a:alpha val="60713"/>
                </a:srgbClr>
              </a:gs>
              <a:gs pos="100000">
                <a:srgbClr val="9514A7">
                  <a:alpha val="60713"/>
                </a:srgbClr>
              </a:gs>
            </a:gsLst>
            <a:lin ang="4500000"/>
          </a:gradFill>
          <a:ln w="12700">
            <a:miter lim="400000"/>
          </a:ln>
        </p:spPr>
        <p:txBody>
          <a:bodyPr lIns="19044" tIns="19044" rIns="19044" bIns="19044" anchor="ctr"/>
          <a:lstStyle/>
          <a:p>
            <a:pPr>
              <a:defRPr sz="3200">
                <a:solidFill>
                  <a:srgbClr val="00C6FD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sp>
        <p:nvSpPr>
          <p:cNvPr id="11" name="Shape 190"/>
          <p:cNvSpPr/>
          <p:nvPr userDrawn="1"/>
        </p:nvSpPr>
        <p:spPr>
          <a:xfrm>
            <a:off x="3225977" y="4465686"/>
            <a:ext cx="38525" cy="182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44" tIns="19044" rIns="19044" bIns="19044" anchor="ctr">
            <a:spAutoFit/>
          </a:bodyPr>
          <a:lstStyle>
            <a:lvl1pPr>
              <a:defRPr sz="2500">
                <a:solidFill>
                  <a:srgbClr val="FFFFFF"/>
                </a:solidFill>
                <a:latin typeface="Lato Regular"/>
                <a:ea typeface="Lato Regular"/>
                <a:cs typeface="Lato Regular"/>
                <a:sym typeface="Lato Regular"/>
              </a:defRPr>
            </a:lvl1pPr>
          </a:lstStyle>
          <a:p>
            <a:endParaRPr sz="937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Shape 191"/>
          <p:cNvSpPr/>
          <p:nvPr userDrawn="1"/>
        </p:nvSpPr>
        <p:spPr>
          <a:xfrm>
            <a:off x="2063" y="-6382"/>
            <a:ext cx="9164362" cy="47609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44" tIns="19044" rIns="19044" bIns="19044" anchor="ctr"/>
          <a:lstStyle/>
          <a:p>
            <a: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"/>
          </a:p>
        </p:txBody>
      </p:sp>
      <p:pic>
        <p:nvPicPr>
          <p:cNvPr id="13" name="image4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66" y="141346"/>
            <a:ext cx="992270" cy="180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image5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26463" y="2520"/>
            <a:ext cx="1095691" cy="35466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marL="0" algn="ctr" defTabSz="171388" rtl="0" eaLnBrk="1" latinLnBrk="0" hangingPunct="1">
              <a:lnSpc>
                <a:spcPct val="80000"/>
              </a:lnSpc>
              <a:defRPr lang="en-US" sz="4200" b="0" kern="200" dirty="0">
                <a:solidFill>
                  <a:srgbClr val="FFFFFF"/>
                </a:solidFill>
                <a:latin typeface="Arial Narrow" panose="020B0606020202030204" pitchFamily="34" charset="0"/>
                <a:ea typeface="Oswald Bold"/>
                <a:cs typeface="Oswald Bold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 defTabSz="171388" rtl="0" eaLnBrk="1" latinLnBrk="0" hangingPunct="1">
              <a:lnSpc>
                <a:spcPct val="100000"/>
              </a:lnSpc>
              <a:buNone/>
              <a:defRPr lang="en-US" sz="3600" b="0" kern="200" dirty="0">
                <a:solidFill>
                  <a:srgbClr val="FFFFFF"/>
                </a:solidFill>
                <a:latin typeface="Arial Narrow" panose="020B060602020203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</a:t>
            </a:r>
          </a:p>
        </p:txBody>
      </p:sp>
      <p:sp>
        <p:nvSpPr>
          <p:cNvPr id="16" name="Shape 188"/>
          <p:cNvSpPr/>
          <p:nvPr userDrawn="1"/>
        </p:nvSpPr>
        <p:spPr>
          <a:xfrm>
            <a:off x="3506668" y="3363408"/>
            <a:ext cx="2130667" cy="0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17139" tIns="17139" rIns="17139" bIns="17139"/>
          <a:lstStyle/>
          <a:p>
            <a:endParaRPr sz="253" dirty="0">
              <a:latin typeface="Arial Narrow" panose="020B06060202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r>
              <a:rPr lang="en-IN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Zensar Technologies 2024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A5B8DC7-FCF6-4796-A6C3-71BB84ACCF41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760"/>
            <a:ext cx="7886700" cy="519158"/>
          </a:xfrm>
        </p:spPr>
        <p:txBody>
          <a:bodyPr>
            <a:noAutofit/>
          </a:bodyPr>
          <a:lstStyle>
            <a:lvl1pPr algn="ctr">
              <a:defRPr sz="3200">
                <a:solidFill>
                  <a:srgbClr val="53DCED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E12CD9A-D8F3-4DB2-ADAB-0712C25D2DA0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Zensar Technologies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hape 242"/>
          <p:cNvSpPr/>
          <p:nvPr userDrawn="1"/>
        </p:nvSpPr>
        <p:spPr>
          <a:xfrm>
            <a:off x="4333963" y="884918"/>
            <a:ext cx="476093" cy="0"/>
          </a:xfrm>
          <a:prstGeom prst="line">
            <a:avLst/>
          </a:prstGeom>
          <a:ln w="38100">
            <a:solidFill>
              <a:srgbClr val="53DCED"/>
            </a:solidFill>
            <a:miter lim="400000"/>
          </a:ln>
        </p:spPr>
        <p:txBody>
          <a:bodyPr lIns="17139" tIns="17139" rIns="17139" bIns="17139"/>
          <a:lstStyle/>
          <a:p>
            <a:endParaRPr sz="253"/>
          </a:p>
        </p:txBody>
      </p:sp>
      <p:sp>
        <p:nvSpPr>
          <p:cNvPr id="11" name="Subtitle 2"/>
          <p:cNvSpPr>
            <a:spLocks noGrp="1"/>
          </p:cNvSpPr>
          <p:nvPr>
            <p:ph type="subTitle" idx="13"/>
          </p:nvPr>
        </p:nvSpPr>
        <p:spPr>
          <a:xfrm>
            <a:off x="1143000" y="1069185"/>
            <a:ext cx="6858000" cy="302415"/>
          </a:xfrm>
        </p:spPr>
        <p:txBody>
          <a:bodyPr>
            <a:normAutofit/>
          </a:bodyPr>
          <a:lstStyle>
            <a:lvl1pPr marL="0" indent="0" algn="ctr" defTabSz="171388" rtl="0" eaLnBrk="1" latinLnBrk="0" hangingPunct="1">
              <a:lnSpc>
                <a:spcPct val="100000"/>
              </a:lnSpc>
              <a:buNone/>
              <a:defRPr lang="en-US" sz="1400" b="0" kern="200" dirty="0">
                <a:solidFill>
                  <a:srgbClr val="53535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3596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760"/>
            <a:ext cx="7886700" cy="519158"/>
          </a:xfrm>
        </p:spPr>
        <p:txBody>
          <a:bodyPr>
            <a:noAutofit/>
          </a:bodyPr>
          <a:lstStyle>
            <a:lvl1pPr algn="ctr">
              <a:defRPr sz="3200">
                <a:solidFill>
                  <a:srgbClr val="53DCED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51226B1-5BAA-45D4-90D2-F222EB65485F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Zensar Technologies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hape 242"/>
          <p:cNvSpPr/>
          <p:nvPr userDrawn="1"/>
        </p:nvSpPr>
        <p:spPr>
          <a:xfrm>
            <a:off x="4333963" y="884918"/>
            <a:ext cx="476093" cy="0"/>
          </a:xfrm>
          <a:prstGeom prst="line">
            <a:avLst/>
          </a:prstGeom>
          <a:ln w="38100">
            <a:solidFill>
              <a:srgbClr val="53DCED"/>
            </a:solidFill>
            <a:miter lim="400000"/>
          </a:ln>
        </p:spPr>
        <p:txBody>
          <a:bodyPr lIns="17139" tIns="17139" rIns="17139" bIns="17139"/>
          <a:lstStyle/>
          <a:p>
            <a:endParaRPr sz="253"/>
          </a:p>
        </p:txBody>
      </p:sp>
    </p:spTree>
    <p:extLst>
      <p:ext uri="{BB962C8B-B14F-4D97-AF65-F5344CB8AC3E}">
        <p14:creationId xmlns:p14="http://schemas.microsoft.com/office/powerpoint/2010/main" val="414736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D42D59C-C7E4-40C2-B36F-1BC13E428E16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Zensar Technologies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9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7.jpe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50" y="-27515"/>
            <a:ext cx="9154821" cy="517281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hape 204"/>
          <p:cNvSpPr/>
          <p:nvPr userDrawn="1"/>
        </p:nvSpPr>
        <p:spPr>
          <a:xfrm>
            <a:off x="-16252" y="-38175"/>
            <a:ext cx="9171575" cy="5180829"/>
          </a:xfrm>
          <a:prstGeom prst="rect">
            <a:avLst/>
          </a:prstGeom>
          <a:gradFill>
            <a:gsLst>
              <a:gs pos="0">
                <a:srgbClr val="17BAFD">
                  <a:alpha val="76611"/>
                </a:srgbClr>
              </a:gs>
              <a:gs pos="100000">
                <a:srgbClr val="AE0091">
                  <a:alpha val="76611"/>
                </a:srgbClr>
              </a:gs>
            </a:gsLst>
            <a:lin ang="4500000"/>
          </a:gradFill>
          <a:ln w="12700">
            <a:miter lim="400000"/>
          </a:ln>
        </p:spPr>
        <p:txBody>
          <a:bodyPr lIns="50783" tIns="50783" rIns="50783" bIns="50783" anchor="ctr"/>
          <a:lstStyle/>
          <a:p>
            <a:pPr>
              <a:defRPr sz="3200">
                <a:solidFill>
                  <a:srgbClr val="00C6FD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760"/>
            <a:ext cx="7886700" cy="519158"/>
          </a:xfrm>
        </p:spPr>
        <p:txBody>
          <a:bodyPr>
            <a:no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BF7CD90-C34F-4EEC-8D54-CD8AE631E652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N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Zensar Technologies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hape 242"/>
          <p:cNvSpPr/>
          <p:nvPr userDrawn="1"/>
        </p:nvSpPr>
        <p:spPr>
          <a:xfrm>
            <a:off x="4333963" y="884918"/>
            <a:ext cx="476093" cy="0"/>
          </a:xfrm>
          <a:prstGeom prst="line">
            <a:avLst/>
          </a:prstGeom>
          <a:ln w="38100">
            <a:solidFill>
              <a:schemeClr val="bg1"/>
            </a:solidFill>
            <a:miter lim="400000"/>
          </a:ln>
        </p:spPr>
        <p:txBody>
          <a:bodyPr lIns="17139" tIns="17139" rIns="17139" bIns="17139"/>
          <a:lstStyle/>
          <a:p>
            <a:endParaRPr sz="253"/>
          </a:p>
        </p:txBody>
      </p:sp>
      <p:sp>
        <p:nvSpPr>
          <p:cNvPr id="11" name="Subtitle 2"/>
          <p:cNvSpPr>
            <a:spLocks noGrp="1"/>
          </p:cNvSpPr>
          <p:nvPr>
            <p:ph type="subTitle" idx="13"/>
          </p:nvPr>
        </p:nvSpPr>
        <p:spPr>
          <a:xfrm>
            <a:off x="647631" y="1278193"/>
            <a:ext cx="3600519" cy="3263504"/>
          </a:xfrm>
        </p:spPr>
        <p:txBody>
          <a:bodyPr>
            <a:normAutofit/>
          </a:bodyPr>
          <a:lstStyle>
            <a:lvl1pPr marL="0" marR="0" indent="0" algn="l" defTabSz="171388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kern="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</a:t>
            </a:r>
          </a:p>
          <a:p>
            <a:endParaRPr lang="en-US" dirty="0"/>
          </a:p>
        </p:txBody>
      </p:sp>
      <p:sp>
        <p:nvSpPr>
          <p:cNvPr id="1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8193"/>
            <a:ext cx="3886200" cy="3263504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25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8.jpe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68" y="-22386"/>
            <a:ext cx="9136230" cy="5163472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Shape 217"/>
          <p:cNvSpPr/>
          <p:nvPr userDrawn="1"/>
        </p:nvSpPr>
        <p:spPr>
          <a:xfrm>
            <a:off x="1014" y="-22386"/>
            <a:ext cx="9140977" cy="5163472"/>
          </a:xfrm>
          <a:prstGeom prst="rect">
            <a:avLst/>
          </a:prstGeom>
          <a:gradFill>
            <a:gsLst>
              <a:gs pos="0">
                <a:srgbClr val="8D15C9">
                  <a:alpha val="47192"/>
                </a:srgbClr>
              </a:gs>
              <a:gs pos="100000">
                <a:srgbClr val="00FBEC">
                  <a:alpha val="47192"/>
                </a:srgbClr>
              </a:gs>
            </a:gsLst>
            <a:lin ang="16200000"/>
          </a:gradFill>
          <a:ln w="63500">
            <a:solidFill>
              <a:srgbClr val="EA3323">
                <a:alpha val="0"/>
              </a:srgbClr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783" tIns="50783" rIns="50783" bIns="50783" anchor="ctr"/>
          <a:lstStyle/>
          <a:p>
            <a:pPr>
              <a:defRPr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54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8159E7A-2CE4-43E5-95BA-C14F0E13D4E7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N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Zensar Technologies 2024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3" name="Shape 205"/>
          <p:cNvSpPr/>
          <p:nvPr userDrawn="1"/>
        </p:nvSpPr>
        <p:spPr>
          <a:xfrm>
            <a:off x="577971" y="863182"/>
            <a:ext cx="2580295" cy="717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783" tIns="50783" rIns="50783" bIns="50783" anchor="ctr">
            <a:spAutoFit/>
          </a:bodyPr>
          <a:lstStyle>
            <a:lvl1pPr>
              <a:defRPr sz="10000">
                <a:solidFill>
                  <a:srgbClr val="FFFFFF"/>
                </a:solidFill>
                <a:latin typeface="Oswald Regular"/>
                <a:ea typeface="Oswald Regular"/>
                <a:cs typeface="Oswald Regular"/>
                <a:sym typeface="Oswald Regular"/>
              </a:defRPr>
            </a:lvl1pPr>
          </a:lstStyle>
          <a:p>
            <a:endParaRPr sz="3998" dirty="0">
              <a:latin typeface="Arial Narrow" panose="020B0606020202030204" pitchFamily="34" charset="0"/>
            </a:endParaRPr>
          </a:p>
        </p:txBody>
      </p:sp>
      <p:sp>
        <p:nvSpPr>
          <p:cNvPr id="85" name="Shape 242"/>
          <p:cNvSpPr/>
          <p:nvPr userDrawn="1"/>
        </p:nvSpPr>
        <p:spPr>
          <a:xfrm>
            <a:off x="4333963" y="884918"/>
            <a:ext cx="476093" cy="0"/>
          </a:xfrm>
          <a:prstGeom prst="line">
            <a:avLst/>
          </a:prstGeom>
          <a:ln w="38100">
            <a:solidFill>
              <a:schemeClr val="bg1"/>
            </a:solidFill>
            <a:miter lim="400000"/>
          </a:ln>
        </p:spPr>
        <p:txBody>
          <a:bodyPr lIns="17139" tIns="17139" rIns="17139" bIns="17139"/>
          <a:lstStyle/>
          <a:p>
            <a:endParaRPr sz="253">
              <a:solidFill>
                <a:schemeClr val="bg1"/>
              </a:solidFill>
            </a:endParaRPr>
          </a:p>
        </p:txBody>
      </p:sp>
      <p:grpSp>
        <p:nvGrpSpPr>
          <p:cNvPr id="86" name="Group 85"/>
          <p:cNvGrpSpPr/>
          <p:nvPr userDrawn="1"/>
        </p:nvGrpSpPr>
        <p:grpSpPr>
          <a:xfrm>
            <a:off x="744014" y="2286097"/>
            <a:ext cx="6621894" cy="680329"/>
            <a:chOff x="546525" y="2285999"/>
            <a:chExt cx="6624085" cy="680555"/>
          </a:xfrm>
        </p:grpSpPr>
        <p:sp>
          <p:nvSpPr>
            <p:cNvPr id="100" name="Shape 230"/>
            <p:cNvSpPr/>
            <p:nvPr/>
          </p:nvSpPr>
          <p:spPr>
            <a:xfrm flipV="1">
              <a:off x="546525" y="2285999"/>
              <a:ext cx="0" cy="680555"/>
            </a:xfrm>
            <a:prstGeom prst="line">
              <a:avLst/>
            </a:prstGeom>
            <a:ln w="9525">
              <a:solidFill>
                <a:srgbClr val="FFFFFF"/>
              </a:solidFill>
              <a:miter lim="400000"/>
              <a:tailEnd type="triangle"/>
            </a:ln>
          </p:spPr>
          <p:txBody>
            <a:bodyPr lIns="45703" tIns="45703" rIns="45703" bIns="45703"/>
            <a:lstStyle/>
            <a:p>
              <a:endParaRPr sz="2798" u="sng"/>
            </a:p>
          </p:txBody>
        </p:sp>
        <p:sp>
          <p:nvSpPr>
            <p:cNvPr id="96" name="Shape 230"/>
            <p:cNvSpPr/>
            <p:nvPr/>
          </p:nvSpPr>
          <p:spPr>
            <a:xfrm flipV="1">
              <a:off x="3858567" y="2285999"/>
              <a:ext cx="0" cy="680555"/>
            </a:xfrm>
            <a:prstGeom prst="line">
              <a:avLst/>
            </a:prstGeom>
            <a:ln w="9525">
              <a:solidFill>
                <a:srgbClr val="FFFFFF"/>
              </a:solidFill>
              <a:miter lim="400000"/>
              <a:tailEnd type="triangle"/>
            </a:ln>
          </p:spPr>
          <p:txBody>
            <a:bodyPr lIns="45703" tIns="45703" rIns="45703" bIns="45703"/>
            <a:lstStyle/>
            <a:p>
              <a:endParaRPr sz="2798" u="sng"/>
            </a:p>
          </p:txBody>
        </p:sp>
        <p:sp>
          <p:nvSpPr>
            <p:cNvPr id="92" name="Shape 230"/>
            <p:cNvSpPr/>
            <p:nvPr/>
          </p:nvSpPr>
          <p:spPr>
            <a:xfrm flipV="1">
              <a:off x="7170610" y="2285999"/>
              <a:ext cx="0" cy="680555"/>
            </a:xfrm>
            <a:prstGeom prst="line">
              <a:avLst/>
            </a:prstGeom>
            <a:ln w="9525">
              <a:solidFill>
                <a:srgbClr val="FFFFFF"/>
              </a:solidFill>
              <a:miter lim="400000"/>
              <a:tailEnd type="triangle"/>
            </a:ln>
          </p:spPr>
          <p:txBody>
            <a:bodyPr lIns="45703" tIns="45703" rIns="45703" bIns="45703"/>
            <a:lstStyle/>
            <a:p>
              <a:endParaRPr sz="2798" u="sng"/>
            </a:p>
          </p:txBody>
        </p:sp>
      </p:grpSp>
      <p:sp>
        <p:nvSpPr>
          <p:cNvPr id="104" name="Title 1"/>
          <p:cNvSpPr>
            <a:spLocks noGrp="1"/>
          </p:cNvSpPr>
          <p:nvPr>
            <p:ph type="title"/>
          </p:nvPr>
        </p:nvSpPr>
        <p:spPr>
          <a:xfrm>
            <a:off x="628650" y="365760"/>
            <a:ext cx="7886700" cy="519158"/>
          </a:xfrm>
        </p:spPr>
        <p:txBody>
          <a:bodyPr>
            <a:no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2719" y="3277189"/>
            <a:ext cx="3390656" cy="1256711"/>
          </a:xfrm>
        </p:spPr>
        <p:txBody>
          <a:bodyPr>
            <a:normAutofit/>
          </a:bodyPr>
          <a:lstStyle>
            <a:lvl1pPr marL="0" indent="0">
              <a:buNone/>
              <a:defRPr sz="140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3"/>
          <p:cNvSpPr>
            <a:spLocks noGrp="1"/>
          </p:cNvSpPr>
          <p:nvPr>
            <p:ph type="body" sz="half" idx="16"/>
          </p:nvPr>
        </p:nvSpPr>
        <p:spPr>
          <a:xfrm>
            <a:off x="743507" y="2324398"/>
            <a:ext cx="1942543" cy="526750"/>
          </a:xfrm>
        </p:spPr>
        <p:txBody>
          <a:bodyPr>
            <a:normAutofit/>
          </a:bodyPr>
          <a:lstStyle>
            <a:lvl1pPr marL="0" indent="0">
              <a:buNone/>
              <a:defRPr sz="160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7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4054454" y="1958022"/>
            <a:ext cx="2133732" cy="366371"/>
          </a:xfrm>
        </p:spPr>
        <p:txBody>
          <a:bodyPr>
            <a:normAutofit/>
          </a:bodyPr>
          <a:lstStyle>
            <a:lvl1pPr marL="0" indent="0">
              <a:buNone/>
              <a:defRPr sz="1800" u="sng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8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5242" y="2338731"/>
            <a:ext cx="1945983" cy="526750"/>
          </a:xfrm>
        </p:spPr>
        <p:txBody>
          <a:bodyPr>
            <a:normAutofit/>
          </a:bodyPr>
          <a:lstStyle>
            <a:lvl1pPr marL="0" indent="0">
              <a:buNone/>
              <a:defRPr sz="160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9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7365401" y="1972360"/>
            <a:ext cx="1776590" cy="366371"/>
          </a:xfrm>
        </p:spPr>
        <p:txBody>
          <a:bodyPr>
            <a:normAutofit/>
          </a:bodyPr>
          <a:lstStyle>
            <a:lvl1pPr marL="0" indent="0">
              <a:buNone/>
              <a:defRPr sz="1800" u="sng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0" name="Text Placeholder 3"/>
          <p:cNvSpPr>
            <a:spLocks noGrp="1"/>
          </p:cNvSpPr>
          <p:nvPr>
            <p:ph type="body" sz="half" idx="20"/>
          </p:nvPr>
        </p:nvSpPr>
        <p:spPr>
          <a:xfrm>
            <a:off x="7346977" y="2353064"/>
            <a:ext cx="1804733" cy="526750"/>
          </a:xfrm>
        </p:spPr>
        <p:txBody>
          <a:bodyPr>
            <a:normAutofit/>
          </a:bodyPr>
          <a:lstStyle>
            <a:lvl1pPr marL="0" indent="0">
              <a:buNone/>
              <a:defRPr sz="160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2" name="Text Placeholder 3"/>
          <p:cNvSpPr>
            <a:spLocks noGrp="1"/>
          </p:cNvSpPr>
          <p:nvPr>
            <p:ph type="body" sz="half" idx="22" hasCustomPrompt="1"/>
          </p:nvPr>
        </p:nvSpPr>
        <p:spPr>
          <a:xfrm>
            <a:off x="752719" y="1938876"/>
            <a:ext cx="2133732" cy="366371"/>
          </a:xfrm>
        </p:spPr>
        <p:txBody>
          <a:bodyPr>
            <a:normAutofit/>
          </a:bodyPr>
          <a:lstStyle>
            <a:lvl1pPr marL="0" indent="0">
              <a:buNone/>
              <a:defRPr sz="1800" u="sng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3" name="Text Placeholder 3"/>
          <p:cNvSpPr>
            <a:spLocks noGrp="1"/>
          </p:cNvSpPr>
          <p:nvPr>
            <p:ph type="body" sz="half" idx="23" hasCustomPrompt="1"/>
          </p:nvPr>
        </p:nvSpPr>
        <p:spPr>
          <a:xfrm>
            <a:off x="5121320" y="3238489"/>
            <a:ext cx="3390656" cy="1256711"/>
          </a:xfrm>
        </p:spPr>
        <p:txBody>
          <a:bodyPr>
            <a:normAutofit/>
          </a:bodyPr>
          <a:lstStyle>
            <a:lvl1pPr marL="0" indent="0">
              <a:buNone/>
              <a:defRPr sz="140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3175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content on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first-filtered.jpe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4311" y="-38175"/>
            <a:ext cx="9222036" cy="5180829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Shape 196"/>
          <p:cNvSpPr/>
          <p:nvPr userDrawn="1"/>
        </p:nvSpPr>
        <p:spPr>
          <a:xfrm>
            <a:off x="-78102" y="-38175"/>
            <a:ext cx="3729747" cy="5180829"/>
          </a:xfrm>
          <a:prstGeom prst="rect">
            <a:avLst/>
          </a:prstGeom>
          <a:gradFill>
            <a:gsLst>
              <a:gs pos="0">
                <a:srgbClr val="00C7EA">
                  <a:alpha val="98541"/>
                </a:srgbClr>
              </a:gs>
              <a:gs pos="100000">
                <a:srgbClr val="252093">
                  <a:alpha val="99471"/>
                </a:srgbClr>
              </a:gs>
            </a:gsLst>
            <a:lin ang="4500000"/>
          </a:gradFill>
          <a:ln w="12700">
            <a:miter lim="400000"/>
          </a:ln>
        </p:spPr>
        <p:txBody>
          <a:bodyPr lIns="50783" tIns="50783" rIns="50783" bIns="50783" anchor="ctr"/>
          <a:lstStyle/>
          <a:p>
            <a:pPr>
              <a:defRPr sz="3200">
                <a:solidFill>
                  <a:srgbClr val="00C6FD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198"/>
          </a:p>
        </p:txBody>
      </p:sp>
      <p:sp>
        <p:nvSpPr>
          <p:cNvPr id="12" name="Shape 200"/>
          <p:cNvSpPr/>
          <p:nvPr userDrawn="1"/>
        </p:nvSpPr>
        <p:spPr>
          <a:xfrm>
            <a:off x="215167" y="4778657"/>
            <a:ext cx="3069717" cy="247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83" tIns="50783" rIns="50783" bIns="50783" anchor="ctr">
            <a:spAutoFit/>
          </a:bodyPr>
          <a:lstStyle>
            <a:lvl1pPr>
              <a:defRPr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939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</a:t>
            </a:r>
            <a:r>
              <a:rPr sz="939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Zensar</a:t>
            </a:r>
            <a:r>
              <a:rPr sz="939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Technologies 2017 </a:t>
            </a:r>
          </a:p>
        </p:txBody>
      </p:sp>
      <p:sp>
        <p:nvSpPr>
          <p:cNvPr id="13" name="Shape 197"/>
          <p:cNvSpPr/>
          <p:nvPr userDrawn="1"/>
        </p:nvSpPr>
        <p:spPr>
          <a:xfrm>
            <a:off x="5416006" y="1891594"/>
            <a:ext cx="2532118" cy="871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783" tIns="50783" rIns="50783" bIns="50783" anchor="ctr">
            <a:spAutoFit/>
          </a:bodyPr>
          <a:lstStyle>
            <a:lvl1pPr algn="l">
              <a:defRPr sz="7500">
                <a:solidFill>
                  <a:srgbClr val="FFFFFF"/>
                </a:solidFill>
                <a:latin typeface="Oswald Regular"/>
                <a:ea typeface="Oswald Regular"/>
                <a:cs typeface="Oswald Regular"/>
                <a:sym typeface="Oswald Regular"/>
              </a:defRPr>
            </a:lvl1pPr>
          </a:lstStyle>
          <a:p>
            <a:r>
              <a:rPr lang="en-IN" sz="4998" dirty="0">
                <a:solidFill>
                  <a:srgbClr val="FF0000"/>
                </a:solidFill>
                <a:latin typeface="Arial Narrow" panose="020B0606020202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image</a:t>
            </a:r>
            <a:endParaRPr sz="4998" dirty="0">
              <a:solidFill>
                <a:srgbClr val="FF0000"/>
              </a:solidFill>
              <a:latin typeface="Arial Narrow" panose="020B0606020202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Shape 206"/>
          <p:cNvSpPr/>
          <p:nvPr userDrawn="1"/>
        </p:nvSpPr>
        <p:spPr>
          <a:xfrm>
            <a:off x="445603" y="2082874"/>
            <a:ext cx="616444" cy="4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45703" tIns="45703" rIns="45703" bIns="45703"/>
          <a:lstStyle/>
          <a:p>
            <a:endParaRPr sz="354" dirty="0">
              <a:latin typeface="Arial Narrow" panose="020B0606020202030204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258404" y="1226838"/>
            <a:ext cx="1607286" cy="994172"/>
          </a:xfrm>
        </p:spPr>
        <p:txBody>
          <a:bodyPr>
            <a:normAutofit/>
          </a:bodyPr>
          <a:lstStyle>
            <a:lvl1pPr>
              <a:defRPr sz="4000" u="none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IN" dirty="0"/>
              <a:t>Text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258405" y="2327433"/>
            <a:ext cx="3026480" cy="2158842"/>
          </a:xfrm>
        </p:spPr>
        <p:txBody>
          <a:bodyPr>
            <a:normAutofit/>
          </a:bodyPr>
          <a:lstStyle>
            <a:lvl1pPr marL="0" marR="0" indent="0" algn="l" defTabSz="171388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kern="200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Add text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65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_DSC1514-Edit v002 copy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-76235" y="860"/>
            <a:ext cx="9056768" cy="51418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hape 196"/>
          <p:cNvSpPr/>
          <p:nvPr userDrawn="1"/>
        </p:nvSpPr>
        <p:spPr>
          <a:xfrm>
            <a:off x="5392011" y="859"/>
            <a:ext cx="3757110" cy="5180829"/>
          </a:xfrm>
          <a:prstGeom prst="rect">
            <a:avLst/>
          </a:prstGeom>
          <a:gradFill>
            <a:gsLst>
              <a:gs pos="0">
                <a:srgbClr val="FDB68B"/>
              </a:gs>
              <a:gs pos="100000">
                <a:srgbClr val="E93F79"/>
              </a:gs>
            </a:gsLst>
            <a:lin ang="4500000" scaled="0"/>
          </a:gradFill>
          <a:ln w="12700">
            <a:miter lim="400000"/>
          </a:ln>
        </p:spPr>
        <p:txBody>
          <a:bodyPr lIns="50783" tIns="50783" rIns="50783" bIns="50783" anchor="ctr"/>
          <a:lstStyle/>
          <a:p>
            <a:pPr>
              <a:defRPr sz="3200">
                <a:solidFill>
                  <a:srgbClr val="00C6FD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IN" sz="3198" dirty="0"/>
              <a:t> </a:t>
            </a:r>
            <a:endParaRPr sz="3198" dirty="0"/>
          </a:p>
        </p:txBody>
      </p:sp>
      <p:pic>
        <p:nvPicPr>
          <p:cNvPr id="10" name="image6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8213" y="136590"/>
            <a:ext cx="1167208" cy="42487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01336" y="1751111"/>
            <a:ext cx="3275042" cy="99417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Shape 200"/>
          <p:cNvSpPr/>
          <p:nvPr userDrawn="1"/>
        </p:nvSpPr>
        <p:spPr>
          <a:xfrm>
            <a:off x="5806661" y="4778657"/>
            <a:ext cx="3069717" cy="247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83" tIns="50783" rIns="50783" bIns="50783" anchor="ctr">
            <a:spAutoFit/>
          </a:bodyPr>
          <a:lstStyle>
            <a:lvl1pPr>
              <a:defRPr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</a:t>
            </a:r>
            <a:r>
              <a:rPr sz="9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Zensar</a:t>
            </a:r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Technologies 2017 </a:t>
            </a:r>
          </a:p>
        </p:txBody>
      </p:sp>
      <p:sp>
        <p:nvSpPr>
          <p:cNvPr id="11" name="Shape 460"/>
          <p:cNvSpPr/>
          <p:nvPr userDrawn="1"/>
        </p:nvSpPr>
        <p:spPr>
          <a:xfrm>
            <a:off x="5712914" y="2862201"/>
            <a:ext cx="397516" cy="0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45703" tIns="45703" rIns="45703" bIns="45703"/>
          <a:lstStyle/>
          <a:p>
            <a:endParaRPr sz="899" dirty="0"/>
          </a:p>
        </p:txBody>
      </p:sp>
    </p:spTree>
    <p:extLst>
      <p:ext uri="{BB962C8B-B14F-4D97-AF65-F5344CB8AC3E}">
        <p14:creationId xmlns:p14="http://schemas.microsoft.com/office/powerpoint/2010/main" val="80469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3E9E5-F368-4063-9684-0F45880C9ACB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image62.jpe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27" y="-1759"/>
            <a:ext cx="9114598" cy="5144413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Shape 509"/>
          <p:cNvSpPr/>
          <p:nvPr userDrawn="1"/>
        </p:nvSpPr>
        <p:spPr>
          <a:xfrm>
            <a:off x="1521" y="0"/>
            <a:ext cx="9151304" cy="5142656"/>
          </a:xfrm>
          <a:prstGeom prst="rect">
            <a:avLst/>
          </a:prstGeom>
          <a:gradFill>
            <a:gsLst>
              <a:gs pos="0">
                <a:srgbClr val="FDB68B">
                  <a:alpha val="81835"/>
                </a:srgbClr>
              </a:gs>
              <a:gs pos="100000">
                <a:srgbClr val="E93F79">
                  <a:alpha val="81835"/>
                </a:srgbClr>
              </a:gs>
            </a:gsLst>
            <a:lin ang="4500000"/>
          </a:gradFill>
          <a:ln w="12700">
            <a:miter lim="400000"/>
          </a:ln>
        </p:spPr>
        <p:txBody>
          <a:bodyPr lIns="50783" tIns="50783" rIns="50783" bIns="50783" anchor="ctr"/>
          <a:lstStyle/>
          <a:p>
            <a:pPr>
              <a:defRPr sz="3200">
                <a:solidFill>
                  <a:srgbClr val="00C6FD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198"/>
          </a:p>
        </p:txBody>
      </p:sp>
      <p:sp>
        <p:nvSpPr>
          <p:cNvPr id="13" name="Shape 200"/>
          <p:cNvSpPr/>
          <p:nvPr userDrawn="1"/>
        </p:nvSpPr>
        <p:spPr>
          <a:xfrm>
            <a:off x="3216316" y="4778657"/>
            <a:ext cx="3069717" cy="247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783" tIns="50783" rIns="50783" bIns="50783" anchor="ctr">
            <a:spAutoFit/>
          </a:bodyPr>
          <a:lstStyle>
            <a:lvl1pPr>
              <a:defRPr sz="2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</a:t>
            </a:r>
            <a:r>
              <a:rPr sz="9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Zensar</a:t>
            </a:r>
            <a:r>
              <a:rPr sz="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Technologies 2017 </a:t>
            </a:r>
          </a:p>
        </p:txBody>
      </p:sp>
      <p:sp>
        <p:nvSpPr>
          <p:cNvPr id="14" name="Shape 206"/>
          <p:cNvSpPr/>
          <p:nvPr userDrawn="1"/>
        </p:nvSpPr>
        <p:spPr>
          <a:xfrm>
            <a:off x="4287311" y="2896337"/>
            <a:ext cx="616444" cy="4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45703" tIns="45703" rIns="45703" bIns="45703"/>
          <a:lstStyle/>
          <a:p>
            <a:endParaRPr sz="354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310868"/>
            <a:ext cx="7886700" cy="519158"/>
          </a:xfrm>
        </p:spPr>
        <p:txBody>
          <a:bodyPr>
            <a:noAutofit/>
          </a:bodyPr>
          <a:lstStyle>
            <a:lvl1pPr algn="ctr">
              <a:defRPr sz="4800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Section Heading</a:t>
            </a:r>
          </a:p>
        </p:txBody>
      </p:sp>
    </p:spTree>
    <p:extLst>
      <p:ext uri="{BB962C8B-B14F-4D97-AF65-F5344CB8AC3E}">
        <p14:creationId xmlns:p14="http://schemas.microsoft.com/office/powerpoint/2010/main" val="238933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DBC6-726E-4304-82C0-F699A67D4910}" type="datetime1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2684-4689-452D-A296-215728BA27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B5A3E-F71E-409F-8A86-928F0CFB327C}" type="datetime1">
              <a:rPr lang="en-US" smtClean="0"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www.zensar.com | © Zensar Technologies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68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20" r:id="rId3"/>
    <p:sldLayoutId id="2147483721" r:id="rId4"/>
    <p:sldLayoutId id="2147483719" r:id="rId5"/>
    <p:sldLayoutId id="2147483709" r:id="rId6"/>
    <p:sldLayoutId id="2147483710" r:id="rId7"/>
    <p:sldLayoutId id="2147483711" r:id="rId8"/>
    <p:sldLayoutId id="2147483712" r:id="rId9"/>
    <p:sldLayoutId id="2147483722" r:id="rId1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/>
          <p:cNvSpPr>
            <a:spLocks noGrp="1"/>
          </p:cNvSpPr>
          <p:nvPr>
            <p:ph type="ctrTitle"/>
          </p:nvPr>
        </p:nvSpPr>
        <p:spPr>
          <a:xfrm>
            <a:off x="1143000" y="1531739"/>
            <a:ext cx="6858000" cy="17907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Java 1.8 features</a:t>
            </a:r>
            <a:br>
              <a:rPr lang="en-IN" dirty="0"/>
            </a:br>
            <a:r>
              <a:rPr lang="en-IN" sz="1800" i="1" dirty="0"/>
              <a:t>By</a:t>
            </a:r>
            <a:br>
              <a:rPr lang="en-IN" sz="1800" i="1" dirty="0"/>
            </a:br>
            <a:r>
              <a:rPr lang="en-IN" sz="1800" i="1" dirty="0"/>
              <a:t>Anand Kulkarni</a:t>
            </a:r>
            <a:br>
              <a:rPr lang="en-IN" sz="1800" i="1" dirty="0"/>
            </a:br>
            <a:r>
              <a:rPr lang="en-IN" sz="1800" i="1" dirty="0"/>
              <a:t>anand.kulkarni1@zensar.com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www.zensar.com | © Zensar Technologies 2024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26B34-DC59-4306-A6FA-34B87C28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31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3844"/>
            <a:ext cx="7886700" cy="69498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200" dirty="0">
                <a:solidFill>
                  <a:schemeClr val="tx1"/>
                </a:solidFill>
                <a:latin typeface="+mn-lt"/>
              </a:rPr>
              <a:t>Table of Content</a:t>
            </a:r>
            <a:endParaRPr lang="lv-LV" sz="32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9443089"/>
              </p:ext>
            </p:extLst>
          </p:nvPr>
        </p:nvGraphicFramePr>
        <p:xfrm>
          <a:off x="435429" y="1110343"/>
          <a:ext cx="8229600" cy="25958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89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9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j-ea"/>
                          <a:cs typeface="+mj-cs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j-ea"/>
                          <a:cs typeface="+mj-cs"/>
                        </a:rPr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Module</a:t>
                      </a:r>
                      <a:r>
                        <a:rPr lang="en-US" sz="1800" baseline="0" dirty="0"/>
                        <a:t> 1: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Functional interfaces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Module</a:t>
                      </a:r>
                      <a:r>
                        <a:rPr lang="en-US" sz="1800" baseline="0" dirty="0"/>
                        <a:t> 2: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Lambda expressions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Module</a:t>
                      </a:r>
                      <a:r>
                        <a:rPr lang="en-US" sz="1800" baseline="0" dirty="0"/>
                        <a:t> 3: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Method references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Module</a:t>
                      </a:r>
                      <a:r>
                        <a:rPr lang="en-US" sz="1800" baseline="0" dirty="0"/>
                        <a:t> 4: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Default methods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Module</a:t>
                      </a:r>
                      <a:r>
                        <a:rPr lang="en-US" sz="1800" baseline="0" dirty="0"/>
                        <a:t> 5: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Streams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Module</a:t>
                      </a:r>
                      <a:r>
                        <a:rPr lang="en-US" sz="1800" baseline="0" dirty="0"/>
                        <a:t> 6: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Date API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028950" y="4732734"/>
            <a:ext cx="3086100" cy="273844"/>
          </a:xfrm>
        </p:spPr>
        <p:txBody>
          <a:bodyPr/>
          <a:lstStyle/>
          <a:p>
            <a:r>
              <a:rPr lang="en-US"/>
              <a:t>www.zensar.com | © Zensar Technologies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B80906-4543-45B8-91C6-7A748825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2684-4689-452D-A296-215728BA279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1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885950"/>
            <a:ext cx="6172200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/>
              <a:t>Functional interfaces &amp; Lambda expressions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34339-8101-475A-BE53-A32D8B3AA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20387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Interface?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Interface is a fully abstraction of a class.</a:t>
            </a:r>
          </a:p>
          <a:p>
            <a:r>
              <a:rPr lang="en-US" dirty="0"/>
              <a:t>All methods in an interface are "public abstract" &amp; all variables are "public static final".</a:t>
            </a:r>
          </a:p>
          <a:p>
            <a:r>
              <a:rPr lang="en-US" dirty="0"/>
              <a:t>Interface is a contract between service provider &amp; service user.</a:t>
            </a:r>
          </a:p>
          <a:p>
            <a:r>
              <a:rPr lang="en-US" dirty="0"/>
              <a:t>Interfaces gather irrelevant objects together.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B1737-C727-44DD-B517-6109C77E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7254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Any interface having a single abstract method is called Functional interface. For example Runnable, </a:t>
            </a:r>
            <a:r>
              <a:rPr lang="en-US" dirty="0" err="1"/>
              <a:t>ActionListener</a:t>
            </a:r>
            <a:r>
              <a:rPr lang="en-US" dirty="0"/>
              <a:t> etc.</a:t>
            </a:r>
          </a:p>
          <a:p>
            <a:r>
              <a:rPr lang="en-US" dirty="0"/>
              <a:t>Java introduced a new annotation called @</a:t>
            </a:r>
            <a:r>
              <a:rPr lang="en-US" dirty="0" err="1"/>
              <a:t>FunctionalInterface</a:t>
            </a:r>
            <a:r>
              <a:rPr lang="en-US" dirty="0"/>
              <a:t> to mark an interface as functional interface. For example:</a:t>
            </a:r>
          </a:p>
          <a:p>
            <a:pPr marL="411480" lvl="2" indent="0">
              <a:buNone/>
            </a:pPr>
            <a:r>
              <a:rPr lang="en-US" i="1" dirty="0">
                <a:solidFill>
                  <a:srgbClr val="FF0000"/>
                </a:solidFill>
              </a:rPr>
              <a:t>@</a:t>
            </a:r>
            <a:r>
              <a:rPr lang="en-US" i="1" dirty="0" err="1">
                <a:solidFill>
                  <a:srgbClr val="FF0000"/>
                </a:solidFill>
              </a:rPr>
              <a:t>FunctionalInterface</a:t>
            </a:r>
            <a:endParaRPr lang="en-US" i="1" dirty="0">
              <a:solidFill>
                <a:srgbClr val="FF0000"/>
              </a:solidFill>
            </a:endParaRPr>
          </a:p>
          <a:p>
            <a:pPr marL="411480" lvl="2" indent="0">
              <a:buNone/>
            </a:pPr>
            <a:r>
              <a:rPr lang="en-US" dirty="0"/>
              <a:t>public interface </a:t>
            </a:r>
            <a:r>
              <a:rPr lang="en-US" dirty="0" err="1"/>
              <a:t>TransactionPredicate</a:t>
            </a:r>
            <a:r>
              <a:rPr lang="en-US" dirty="0"/>
              <a:t> {</a:t>
            </a:r>
          </a:p>
          <a:p>
            <a:pPr marL="411480" lvl="2" indent="0">
              <a:buNone/>
            </a:pPr>
            <a:r>
              <a:rPr lang="en-US" dirty="0"/>
              <a:t>	</a:t>
            </a:r>
            <a:r>
              <a:rPr lang="en-US" dirty="0" err="1"/>
              <a:t>boolean</a:t>
            </a:r>
            <a:r>
              <a:rPr lang="en-US" dirty="0"/>
              <a:t> test(Transaction transaction);</a:t>
            </a:r>
          </a:p>
          <a:p>
            <a:pPr marL="411480" lvl="2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Functional interface can have multiple default or static methods.</a:t>
            </a:r>
          </a:p>
          <a:p>
            <a:r>
              <a:rPr lang="en-US" dirty="0"/>
              <a:t>Java provides us many pre-defined functional interfaces placed into </a:t>
            </a:r>
            <a:r>
              <a:rPr lang="en-US" dirty="0" err="1"/>
              <a:t>java.util.function</a:t>
            </a:r>
            <a:r>
              <a:rPr lang="en-US" dirty="0"/>
              <a:t> package.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44561-8D72-4E5B-9369-AF77741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80499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@</a:t>
            </a:r>
            <a:r>
              <a:rPr lang="en-US" dirty="0" err="1">
                <a:solidFill>
                  <a:srgbClr val="FF0000"/>
                </a:solidFill>
              </a:rPr>
              <a:t>FunctionalInterface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public interface Sortable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boolean</a:t>
            </a:r>
            <a:r>
              <a:rPr lang="en-US" dirty="0"/>
              <a:t> compare(Sortable s);</a:t>
            </a:r>
          </a:p>
          <a:p>
            <a:pPr marL="0" indent="0">
              <a:buNone/>
            </a:pPr>
            <a:r>
              <a:rPr lang="en-US" dirty="0"/>
              <a:t>	default void </a:t>
            </a:r>
            <a:r>
              <a:rPr lang="en-US" dirty="0" err="1"/>
              <a:t>sortAll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		//code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static void </a:t>
            </a:r>
            <a:r>
              <a:rPr lang="en-US" dirty="0" err="1"/>
              <a:t>compareAll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		//code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02DB2-FA29-45F8-B97D-DA0D4426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01924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1725930"/>
            <a:ext cx="6172200" cy="3417570"/>
          </a:xfrm>
        </p:spPr>
        <p:txBody>
          <a:bodyPr>
            <a:normAutofit/>
          </a:bodyPr>
          <a:lstStyle/>
          <a:p>
            <a:r>
              <a:rPr lang="en-US" sz="1650" dirty="0"/>
              <a:t>Lambda expression is a concise representation of an anonymous function.</a:t>
            </a:r>
          </a:p>
          <a:p>
            <a:r>
              <a:rPr lang="en-US" sz="1650" dirty="0"/>
              <a:t>Lambda expression does not have a name.</a:t>
            </a:r>
          </a:p>
          <a:p>
            <a:r>
              <a:rPr lang="en-US" sz="1650" dirty="0"/>
              <a:t>Lambda expression has a list of parameters, a body, a return type &amp; sometimes list of exceptions.</a:t>
            </a:r>
          </a:p>
          <a:p>
            <a:r>
              <a:rPr lang="en-US" sz="1650" dirty="0"/>
              <a:t>Lambda expression can be passed as argument to a method or stored in a variable.</a:t>
            </a:r>
          </a:p>
          <a:p>
            <a:r>
              <a:rPr lang="en-US" sz="1650" dirty="0"/>
              <a:t>Lambda expression body can optionally use ‘return’ keyword.</a:t>
            </a:r>
          </a:p>
          <a:p>
            <a:r>
              <a:rPr lang="en-US" sz="1650" dirty="0"/>
              <a:t>Lambda expression body can have curly braces if body contains multiple statements.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57448" y="1198243"/>
            <a:ext cx="2966321" cy="3077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parameter -&gt; expression body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C7B49-29B8-43B7-82F0-B5DB01FD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25108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429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With type declaration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FD5E-6A8F-48F2-95DA-F7E0211AAF2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828800" y="1314451"/>
            <a:ext cx="4292485" cy="27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6654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MathOperation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addition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20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-&gt;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;</a:t>
            </a:r>
            <a:r>
              <a:rPr lang="en-US" sz="1050" dirty="0">
                <a:latin typeface="Consolas" pitchFamily="49" charset="0"/>
                <a:cs typeface="Consolas" pitchFamily="49" charset="0"/>
              </a:rPr>
              <a:t> </a:t>
            </a:r>
            <a:endParaRPr lang="en-US" sz="3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Content Placeholder 7"/>
          <p:cNvSpPr txBox="1">
            <a:spLocks/>
          </p:cNvSpPr>
          <p:nvPr/>
        </p:nvSpPr>
        <p:spPr>
          <a:xfrm>
            <a:off x="1428750" y="1828800"/>
            <a:ext cx="6172200" cy="3429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50" dirty="0"/>
              <a:t>With out type declaration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828800" y="2159313"/>
            <a:ext cx="5257800" cy="29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6654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MathOperation</a:t>
            </a:r>
            <a:r>
              <a:rPr lang="en-US" sz="15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subtraction </a:t>
            </a:r>
            <a:r>
              <a:rPr lang="en-US" sz="15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15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5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15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15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5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5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-&gt;</a:t>
            </a:r>
            <a:r>
              <a:rPr lang="en-US" sz="15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 </a:t>
            </a:r>
            <a:r>
              <a:rPr lang="en-US" sz="15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-</a:t>
            </a:r>
            <a:r>
              <a:rPr lang="en-US" sz="15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5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;</a:t>
            </a:r>
            <a:r>
              <a:rPr lang="en-US" sz="1350" dirty="0">
                <a:latin typeface="Consolas" pitchFamily="49" charset="0"/>
                <a:cs typeface="Consolas" pitchFamily="49" charset="0"/>
              </a:rPr>
              <a:t> </a:t>
            </a:r>
            <a:endParaRPr lang="en-US" sz="3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Content Placeholder 7"/>
          <p:cNvSpPr txBox="1">
            <a:spLocks/>
          </p:cNvSpPr>
          <p:nvPr/>
        </p:nvSpPr>
        <p:spPr>
          <a:xfrm>
            <a:off x="1516034" y="2628900"/>
            <a:ext cx="6172200" cy="3429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50" dirty="0"/>
              <a:t>With return statement along with curly braces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828800" y="3028950"/>
            <a:ext cx="5829300" cy="251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6654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MathOperation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multiplication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20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-&gt;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*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;</a:t>
            </a:r>
            <a:r>
              <a:rPr lang="en-US" sz="120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20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};</a:t>
            </a:r>
            <a:r>
              <a:rPr lang="en-US" sz="1200" dirty="0">
                <a:latin typeface="Consolas" pitchFamily="49" charset="0"/>
                <a:cs typeface="Consolas" pitchFamily="49" charset="0"/>
              </a:rPr>
              <a:t> </a:t>
            </a:r>
          </a:p>
        </p:txBody>
      </p:sp>
      <p:sp>
        <p:nvSpPr>
          <p:cNvPr id="17" name="Content Placeholder 7"/>
          <p:cNvSpPr txBox="1">
            <a:spLocks/>
          </p:cNvSpPr>
          <p:nvPr/>
        </p:nvSpPr>
        <p:spPr>
          <a:xfrm>
            <a:off x="1553441" y="3371850"/>
            <a:ext cx="6172200" cy="3429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50" dirty="0"/>
              <a:t>Without return statement and without curly braces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1828801" y="3906983"/>
            <a:ext cx="4728859" cy="27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6654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MathOperation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division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35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,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35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-&gt;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a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b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;</a:t>
            </a:r>
            <a:r>
              <a:rPr lang="en-US" sz="1350" dirty="0">
                <a:latin typeface="Consolas" pitchFamily="49" charset="0"/>
                <a:cs typeface="Consolas" pitchFamily="49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2C215-39F8-42A0-BDCC-0F8C466F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82253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/>
      <p:bldP spid="12" grpId="0"/>
      <p:bldP spid="13" grpId="0"/>
      <p:bldP spid="14" grpId="0"/>
      <p:bldP spid="16" grpId="0"/>
      <p:bldP spid="17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400050"/>
          </a:xfrm>
        </p:spPr>
        <p:txBody>
          <a:bodyPr>
            <a:normAutofit/>
          </a:bodyPr>
          <a:lstStyle/>
          <a:p>
            <a:r>
              <a:rPr lang="en-US" dirty="0"/>
              <a:t>With parenthesis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FD5E-6A8F-48F2-95DA-F7E0211AAF2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71650" y="1212069"/>
            <a:ext cx="4914900" cy="657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6654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5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GreetingService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greetService1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message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-&gt;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5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System</a:t>
            </a:r>
            <a:r>
              <a:rPr lang="en-US" sz="1350" dirty="0" err="1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.</a:t>
            </a:r>
            <a:r>
              <a:rPr lang="en-US" sz="135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out</a:t>
            </a:r>
            <a:r>
              <a:rPr lang="en-US" sz="1350" dirty="0" err="1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.</a:t>
            </a:r>
            <a:r>
              <a:rPr lang="en-US" sz="1350" dirty="0" err="1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println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350" dirty="0">
                <a:solidFill>
                  <a:srgbClr val="008800"/>
                </a:solidFill>
                <a:latin typeface="Consolas" pitchFamily="49" charset="0"/>
                <a:cs typeface="Consolas" pitchFamily="49" charset="0"/>
              </a:rPr>
              <a:t>"Hello "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message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);</a:t>
            </a:r>
            <a:r>
              <a:rPr lang="en-US" sz="1350" dirty="0">
                <a:latin typeface="Consolas" pitchFamily="49" charset="0"/>
                <a:cs typeface="Consolas" pitchFamily="49" charset="0"/>
              </a:rPr>
              <a:t>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485900" y="1943100"/>
            <a:ext cx="6172200" cy="4000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50" dirty="0"/>
              <a:t>With parenthesis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771650" y="2183619"/>
            <a:ext cx="4161396" cy="657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6654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5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GreetingService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greetService2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message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-&gt;</a:t>
            </a:r>
          </a:p>
          <a:p>
            <a:pPr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50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System</a:t>
            </a:r>
            <a:r>
              <a:rPr lang="en-US" sz="1350" dirty="0" err="1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.</a:t>
            </a:r>
            <a:r>
              <a:rPr lang="en-US" sz="1350" dirty="0" err="1">
                <a:solidFill>
                  <a:srgbClr val="000088"/>
                </a:solidFill>
                <a:latin typeface="Consolas" pitchFamily="49" charset="0"/>
                <a:cs typeface="Consolas" pitchFamily="49" charset="0"/>
              </a:rPr>
              <a:t>out</a:t>
            </a:r>
            <a:r>
              <a:rPr lang="en-US" sz="1350" dirty="0" err="1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.</a:t>
            </a:r>
            <a:r>
              <a:rPr lang="en-US" sz="1350" dirty="0" err="1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println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350" dirty="0">
                <a:solidFill>
                  <a:srgbClr val="008800"/>
                </a:solidFill>
                <a:latin typeface="Consolas" pitchFamily="49" charset="0"/>
                <a:cs typeface="Consolas" pitchFamily="49" charset="0"/>
              </a:rPr>
              <a:t>"Hello "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Consolas" pitchFamily="49" charset="0"/>
              </a:rPr>
              <a:t> message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Consolas" pitchFamily="49" charset="0"/>
              </a:rPr>
              <a:t>);</a:t>
            </a:r>
            <a:r>
              <a:rPr lang="en-US" sz="1350" dirty="0">
                <a:latin typeface="Consolas" pitchFamily="49" charset="0"/>
                <a:cs typeface="Consolas" pitchFamily="49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DF8DF-C1C4-4C8B-A6AC-05303240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55340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Select the valid lambda expression among following:</a:t>
            </a:r>
          </a:p>
          <a:p>
            <a:r>
              <a:rPr lang="en-US" sz="1650" dirty="0"/>
              <a:t>() -&gt; {}</a:t>
            </a:r>
          </a:p>
          <a:p>
            <a:pPr marL="411480" lvl="2" indent="0">
              <a:buNone/>
            </a:pPr>
            <a:r>
              <a:rPr lang="en-US" sz="1350" b="1" dirty="0">
                <a:solidFill>
                  <a:srgbClr val="FF0000"/>
                </a:solidFill>
              </a:rPr>
              <a:t>Yes</a:t>
            </a:r>
          </a:p>
          <a:p>
            <a:r>
              <a:rPr lang="en-US" sz="1650" dirty="0"/>
              <a:t>() -&gt; "Welcome to Java 8"</a:t>
            </a:r>
          </a:p>
          <a:p>
            <a:pPr marL="411480" lvl="2" indent="0">
              <a:buNone/>
            </a:pPr>
            <a:r>
              <a:rPr lang="en-US" sz="1350" b="1" dirty="0">
                <a:solidFill>
                  <a:srgbClr val="FF0000"/>
                </a:solidFill>
              </a:rPr>
              <a:t>Yes</a:t>
            </a:r>
            <a:endParaRPr lang="en-US" sz="1200" dirty="0"/>
          </a:p>
          <a:p>
            <a:r>
              <a:rPr lang="en-US" sz="1650" dirty="0"/>
              <a:t>() -&gt; {return "Welcome to Java 8";}</a:t>
            </a:r>
          </a:p>
          <a:p>
            <a:pPr marL="411480" lvl="2" indent="0">
              <a:buNone/>
            </a:pPr>
            <a:r>
              <a:rPr lang="en-US" sz="1350" b="1" dirty="0">
                <a:solidFill>
                  <a:srgbClr val="FF0000"/>
                </a:solidFill>
              </a:rPr>
              <a:t>Yes</a:t>
            </a:r>
            <a:endParaRPr lang="en-US" sz="1200" dirty="0"/>
          </a:p>
          <a:p>
            <a:r>
              <a:rPr lang="en-US" sz="1650" dirty="0"/>
              <a:t>(Integer </a:t>
            </a:r>
            <a:r>
              <a:rPr lang="en-US" sz="1650" dirty="0" err="1"/>
              <a:t>i</a:t>
            </a:r>
            <a:r>
              <a:rPr lang="en-US" sz="1650" dirty="0"/>
              <a:t>) -&gt; return "Hello " + </a:t>
            </a:r>
            <a:r>
              <a:rPr lang="en-US" sz="1650" dirty="0" err="1"/>
              <a:t>i</a:t>
            </a:r>
            <a:r>
              <a:rPr lang="en-US" sz="1650" dirty="0"/>
              <a:t>;</a:t>
            </a:r>
          </a:p>
          <a:p>
            <a:pPr marL="411480" lvl="2" indent="0">
              <a:buNone/>
            </a:pPr>
            <a:r>
              <a:rPr lang="en-US" sz="1350" b="1" dirty="0">
                <a:solidFill>
                  <a:srgbClr val="FF0000"/>
                </a:solidFill>
              </a:rPr>
              <a:t>No</a:t>
            </a:r>
            <a:endParaRPr lang="en-US" sz="1200" dirty="0"/>
          </a:p>
          <a:p>
            <a:r>
              <a:rPr lang="en-US" sz="1650" dirty="0"/>
              <a:t>(String s) -&gt; {" Welcome to Java 8 ";}</a:t>
            </a:r>
          </a:p>
          <a:p>
            <a:pPr marL="411480" lvl="2" indent="0">
              <a:buNone/>
            </a:pPr>
            <a:r>
              <a:rPr lang="en-US" sz="1350" b="1" dirty="0">
                <a:solidFill>
                  <a:srgbClr val="FF0000"/>
                </a:solidFill>
              </a:rPr>
              <a:t>No</a:t>
            </a: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01E72-AB05-4B87-AB41-1A6750CF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76071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public interface Predicate&lt;T&gt;{</a:t>
            </a:r>
          </a:p>
          <a:p>
            <a:pPr marL="205740" lvl="1" indent="0">
              <a:buNone/>
            </a:pPr>
            <a:r>
              <a:rPr lang="en-US" sz="1650" dirty="0"/>
              <a:t>   </a:t>
            </a:r>
            <a:r>
              <a:rPr lang="en-US" sz="1650" dirty="0" err="1"/>
              <a:t>boolean</a:t>
            </a:r>
            <a:r>
              <a:rPr lang="en-US" sz="1650" dirty="0"/>
              <a:t> test (T t);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/>
              <a:t>import </a:t>
            </a:r>
            <a:r>
              <a:rPr lang="en-US" sz="1650" dirty="0" err="1"/>
              <a:t>java.util.function.Predicate</a:t>
            </a:r>
            <a:r>
              <a:rPr lang="en-US" sz="1650" dirty="0"/>
              <a:t>;</a:t>
            </a:r>
          </a:p>
          <a:p>
            <a:pPr marL="0" indent="0">
              <a:buNone/>
            </a:pPr>
            <a:r>
              <a:rPr lang="en-US" sz="1650" dirty="0"/>
              <a:t>Predicate&lt;String&gt; </a:t>
            </a:r>
            <a:r>
              <a:rPr lang="en-US" sz="1650" dirty="0" err="1"/>
              <a:t>nonEmptyStringPredicate</a:t>
            </a:r>
            <a:r>
              <a:rPr lang="en-US" sz="1650" dirty="0"/>
              <a:t> = </a:t>
            </a:r>
          </a:p>
          <a:p>
            <a:pPr marL="0" indent="0">
              <a:buNone/>
            </a:pPr>
            <a:r>
              <a:rPr lang="en-US" sz="1650" dirty="0"/>
              <a:t>	(String s) -&gt; !</a:t>
            </a:r>
            <a:r>
              <a:rPr lang="en-US" sz="1650" dirty="0" err="1"/>
              <a:t>s.isEmpty</a:t>
            </a:r>
            <a:r>
              <a:rPr lang="en-US" sz="1650" dirty="0"/>
              <a:t>();</a:t>
            </a:r>
          </a:p>
          <a:p>
            <a:pPr marL="0" indent="0">
              <a:buNone/>
            </a:pPr>
            <a:r>
              <a:rPr lang="en-US" sz="1650" dirty="0"/>
              <a:t>List&lt;String&gt; </a:t>
            </a:r>
            <a:r>
              <a:rPr lang="en-US" sz="1650" dirty="0" err="1"/>
              <a:t>nonEmpty</a:t>
            </a:r>
            <a:r>
              <a:rPr lang="en-US" sz="1650" dirty="0"/>
              <a:t> = filter(</a:t>
            </a:r>
            <a:r>
              <a:rPr lang="en-US" sz="1650" dirty="0" err="1"/>
              <a:t>listOfStrings</a:t>
            </a:r>
            <a:r>
              <a:rPr lang="en-US" sz="1650" dirty="0"/>
              <a:t>,	</a:t>
            </a:r>
            <a:r>
              <a:rPr lang="en-US" sz="1650" dirty="0" err="1"/>
              <a:t>nonEmptyStringPredicate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6520E-0A33-4AE7-9C4E-591A19A0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3318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50" dirty="0"/>
              <a:t>public interface Consumer&lt;T&gt;{</a:t>
            </a:r>
          </a:p>
          <a:p>
            <a:pPr marL="205740" lvl="1" indent="0">
              <a:buNone/>
            </a:pPr>
            <a:r>
              <a:rPr lang="en-US" sz="1650" dirty="0"/>
              <a:t>   void accept(T t);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50" dirty="0"/>
              <a:t>import </a:t>
            </a:r>
            <a:r>
              <a:rPr lang="en-US" sz="1650" dirty="0" err="1"/>
              <a:t>java.util.function.Consumer</a:t>
            </a:r>
            <a:r>
              <a:rPr lang="en-US" sz="1650" dirty="0"/>
              <a:t>;</a:t>
            </a:r>
          </a:p>
          <a:p>
            <a:pPr marL="0" indent="0">
              <a:buNone/>
            </a:pPr>
            <a:r>
              <a:rPr lang="en-US" sz="1650" dirty="0"/>
              <a:t>Consumer&lt;Integer&gt; consumer = </a:t>
            </a:r>
          </a:p>
          <a:p>
            <a:pPr marL="0" indent="0">
              <a:buNone/>
            </a:pPr>
            <a:r>
              <a:rPr lang="en-US" sz="1650" dirty="0"/>
              <a:t>	(Integer x)-&gt;</a:t>
            </a:r>
            <a:r>
              <a:rPr lang="en-US" sz="1650" dirty="0" err="1"/>
              <a:t>System.out.println</a:t>
            </a:r>
            <a:r>
              <a:rPr lang="en-US" sz="1650" dirty="0"/>
              <a:t>(x);</a:t>
            </a:r>
          </a:p>
          <a:p>
            <a:pPr marL="0" indent="0">
              <a:buNone/>
            </a:pPr>
            <a:r>
              <a:rPr lang="en-US" sz="1650" dirty="0" err="1"/>
              <a:t>printList</a:t>
            </a:r>
            <a:r>
              <a:rPr lang="en-US" sz="1650" dirty="0"/>
              <a:t>(</a:t>
            </a:r>
            <a:r>
              <a:rPr lang="en-US" sz="1650" dirty="0" err="1"/>
              <a:t>Arrays.asList</a:t>
            </a:r>
            <a:r>
              <a:rPr lang="en-US" sz="1650" dirty="0"/>
              <a:t>(10, 15, 20, 44, 85), consumer);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48A29-C028-4894-8AD1-AE71995A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76870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50" dirty="0"/>
              <a:t>public interface Supplier&lt;T&gt; {</a:t>
            </a:r>
          </a:p>
          <a:p>
            <a:pPr marL="0" indent="0">
              <a:buNone/>
            </a:pPr>
            <a:r>
              <a:rPr lang="en-US" sz="1650" dirty="0"/>
              <a:t>  T get();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/>
              <a:t>import </a:t>
            </a:r>
            <a:r>
              <a:rPr lang="en-US" sz="1650" dirty="0" err="1"/>
              <a:t>java.util.function.Supplier</a:t>
            </a:r>
            <a:r>
              <a:rPr lang="en-US" sz="1650" dirty="0"/>
              <a:t>;</a:t>
            </a:r>
          </a:p>
          <a:p>
            <a:pPr marL="0" indent="0">
              <a:buNone/>
            </a:pPr>
            <a:r>
              <a:rPr lang="en-US" sz="1650" dirty="0"/>
              <a:t>Supplier&lt;Integer&gt; supplier = () -&gt; </a:t>
            </a:r>
            <a:r>
              <a:rPr lang="en-US" sz="1650" dirty="0" err="1"/>
              <a:t>random.nextInt</a:t>
            </a:r>
            <a:r>
              <a:rPr lang="en-US" sz="1650" dirty="0"/>
              <a:t>(100);</a:t>
            </a:r>
          </a:p>
          <a:p>
            <a:pPr marL="0" indent="0">
              <a:buNone/>
            </a:pPr>
            <a:r>
              <a:rPr lang="en-US" sz="1650" dirty="0" err="1"/>
              <a:t>printGrade</a:t>
            </a:r>
            <a:r>
              <a:rPr lang="en-US" sz="1650" dirty="0"/>
              <a:t>(supplier);</a:t>
            </a:r>
          </a:p>
          <a:p>
            <a:pPr marL="0" indent="0">
              <a:buNone/>
            </a:pPr>
            <a:r>
              <a:rPr lang="en-US" sz="1650" dirty="0" err="1"/>
              <a:t>printGrade</a:t>
            </a:r>
            <a:r>
              <a:rPr lang="en-US" sz="1650" dirty="0"/>
              <a:t>(Supplier&lt;T&gt; supplier) {</a:t>
            </a:r>
          </a:p>
          <a:p>
            <a:pPr marL="0" indent="0">
              <a:buNone/>
            </a:pPr>
            <a:r>
              <a:rPr lang="en-US" sz="1650" dirty="0"/>
              <a:t>	Integer marks = </a:t>
            </a:r>
            <a:r>
              <a:rPr lang="en-US" sz="1650" dirty="0" err="1"/>
              <a:t>supplier.get</a:t>
            </a:r>
            <a:r>
              <a:rPr lang="en-US" sz="1650" dirty="0"/>
              <a:t>();</a:t>
            </a:r>
          </a:p>
          <a:p>
            <a:pPr marL="0" indent="0">
              <a:buNone/>
            </a:pPr>
            <a:r>
              <a:rPr lang="en-US" sz="1650" dirty="0"/>
              <a:t>	//logic to find the grade using marks.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1038E-CC8D-4F32-966E-DB0380BB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98348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public interface Function&lt;T, R&gt; {</a:t>
            </a:r>
          </a:p>
          <a:p>
            <a:pPr marL="0" indent="0">
              <a:buNone/>
            </a:pPr>
            <a:r>
              <a:rPr lang="en-US" sz="1650" dirty="0"/>
              <a:t>	R apply(T t);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/>
              <a:t>Function&lt;Integer, String&gt; function = (Integer marks)-&gt;marks &gt; 40 ? "PASS" : "FAILED";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("Result = " + </a:t>
            </a:r>
            <a:r>
              <a:rPr lang="en-US" sz="1650" dirty="0" err="1"/>
              <a:t>function.apply</a:t>
            </a:r>
            <a:r>
              <a:rPr lang="en-US" sz="1650" dirty="0"/>
              <a:t>(45));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("Result = " + </a:t>
            </a:r>
            <a:r>
              <a:rPr lang="en-US" sz="1650" dirty="0" err="1"/>
              <a:t>function.apply</a:t>
            </a:r>
            <a:r>
              <a:rPr lang="en-US" sz="1650" dirty="0"/>
              <a:t>(23));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968D1-E2EF-4807-AAFA-FE9550A0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62731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specializations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Apart from generic functional interfaces like Predicate&lt;T&gt;, Supplier&lt;T&gt; etc., Java 8 also supports primitive based functional interfaces.</a:t>
            </a:r>
          </a:p>
          <a:p>
            <a:r>
              <a:rPr lang="en-US" dirty="0"/>
              <a:t>If we use generic functional interfaces for primitive data then it requires </a:t>
            </a:r>
            <a:r>
              <a:rPr lang="en-US" dirty="0" err="1"/>
              <a:t>autoboxing</a:t>
            </a:r>
            <a:r>
              <a:rPr lang="en-US" dirty="0"/>
              <a:t> &amp; unboxing. Due to this performance is reduced. Hence we should use primitive based functional interfaces for primitive data.</a:t>
            </a:r>
          </a:p>
          <a:p>
            <a:r>
              <a:rPr lang="en-US" dirty="0"/>
              <a:t>Typical examples of primitive functional interface is </a:t>
            </a:r>
            <a:r>
              <a:rPr lang="en-US" dirty="0" err="1"/>
              <a:t>IntPredicate</a:t>
            </a:r>
            <a:r>
              <a:rPr lang="en-US" dirty="0"/>
              <a:t>, </a:t>
            </a:r>
            <a:r>
              <a:rPr lang="en-US" dirty="0" err="1"/>
              <a:t>IntSupplier</a:t>
            </a:r>
            <a:r>
              <a:rPr lang="en-US" dirty="0"/>
              <a:t>, </a:t>
            </a:r>
            <a:r>
              <a:rPr lang="en-US" dirty="0" err="1"/>
              <a:t>DoubleFunction</a:t>
            </a:r>
            <a:r>
              <a:rPr lang="en-US" dirty="0"/>
              <a:t>, </a:t>
            </a:r>
            <a:r>
              <a:rPr lang="en-US" dirty="0" err="1"/>
              <a:t>LongConsumer</a:t>
            </a:r>
            <a:r>
              <a:rPr lang="en-US" dirty="0"/>
              <a:t>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EAA8F2-8F5E-4846-AEAB-C19DB990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7753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IntPredicate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public interface </a:t>
            </a:r>
            <a:r>
              <a:rPr lang="en-US" sz="1650" dirty="0" err="1"/>
              <a:t>IntPredicate</a:t>
            </a:r>
            <a:r>
              <a:rPr lang="en-US" sz="1650" dirty="0"/>
              <a:t> {</a:t>
            </a:r>
          </a:p>
          <a:p>
            <a:pPr marL="0" indent="0">
              <a:buNone/>
            </a:pPr>
            <a:r>
              <a:rPr lang="en-US" sz="1650" dirty="0"/>
              <a:t>	</a:t>
            </a:r>
            <a:r>
              <a:rPr lang="en-US" sz="1650" dirty="0" err="1"/>
              <a:t>boolean</a:t>
            </a:r>
            <a:r>
              <a:rPr lang="en-US" sz="1650" dirty="0"/>
              <a:t> test(</a:t>
            </a:r>
            <a:r>
              <a:rPr lang="en-US" sz="1650" dirty="0" err="1"/>
              <a:t>int</a:t>
            </a:r>
            <a:r>
              <a:rPr lang="en-US" sz="1650" dirty="0"/>
              <a:t> x);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 err="1"/>
              <a:t>IntPredicate</a:t>
            </a:r>
            <a:r>
              <a:rPr lang="en-US" sz="1650" dirty="0"/>
              <a:t> </a:t>
            </a:r>
            <a:r>
              <a:rPr lang="en-US" sz="1650" dirty="0" err="1"/>
              <a:t>intPredicate</a:t>
            </a:r>
            <a:r>
              <a:rPr lang="en-US" sz="1650" dirty="0"/>
              <a:t> = (</a:t>
            </a:r>
            <a:r>
              <a:rPr lang="en-US" sz="1650" dirty="0" err="1"/>
              <a:t>int</a:t>
            </a:r>
            <a:r>
              <a:rPr lang="en-US" sz="1650" dirty="0"/>
              <a:t> marks)-&gt;marks &gt; 40 ? true : false;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("Passed? " + </a:t>
            </a:r>
            <a:r>
              <a:rPr lang="en-US" sz="1650" dirty="0" err="1"/>
              <a:t>intPredicate.test</a:t>
            </a:r>
            <a:r>
              <a:rPr lang="en-US" sz="1650" dirty="0"/>
              <a:t>(55));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("Passed? " + </a:t>
            </a:r>
            <a:r>
              <a:rPr lang="en-US" sz="1650" dirty="0" err="1"/>
              <a:t>intPredicate.test</a:t>
            </a:r>
            <a:r>
              <a:rPr lang="en-US" sz="1650" dirty="0"/>
              <a:t>(23));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FEB29-1A58-42C6-9E04-0D5F63F52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66578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DoubleFunction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286500" cy="3703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public interface </a:t>
            </a:r>
            <a:r>
              <a:rPr lang="en-US" sz="1650" dirty="0" err="1"/>
              <a:t>DoubleFunction</a:t>
            </a:r>
            <a:r>
              <a:rPr lang="en-US" sz="1650" dirty="0"/>
              <a:t>&lt;R&gt; {</a:t>
            </a:r>
          </a:p>
          <a:p>
            <a:pPr marL="0" indent="0">
              <a:buNone/>
            </a:pPr>
            <a:r>
              <a:rPr lang="en-US" sz="1650" dirty="0"/>
              <a:t>	R apply(double value);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 err="1"/>
              <a:t>DoubleFunction</a:t>
            </a:r>
            <a:r>
              <a:rPr lang="en-US" sz="1650" dirty="0"/>
              <a:t>&lt;String&gt; </a:t>
            </a:r>
            <a:r>
              <a:rPr lang="en-US" sz="1650" dirty="0" err="1"/>
              <a:t>doubleFunc</a:t>
            </a:r>
            <a:r>
              <a:rPr lang="en-US" sz="1650" dirty="0"/>
              <a:t> = (double temperature) -&gt; temperature &gt; 20 ? "HOT" : "COOL";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("How is the weather? " + </a:t>
            </a:r>
            <a:r>
              <a:rPr lang="en-US" sz="1650" dirty="0" err="1"/>
              <a:t>doubleFunc.apply</a:t>
            </a:r>
            <a:r>
              <a:rPr lang="en-US" sz="1650" dirty="0"/>
              <a:t>(32.2));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("How is the weather? " + </a:t>
            </a:r>
            <a:r>
              <a:rPr lang="en-US" sz="1650" dirty="0" err="1"/>
              <a:t>doubleFunc.apply</a:t>
            </a:r>
            <a:r>
              <a:rPr lang="en-US" sz="1650" dirty="0"/>
              <a:t>(8.7));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9A91D-C7DE-45F4-B159-B975E536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01468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LongConsumer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343650" cy="3703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public interface </a:t>
            </a:r>
            <a:r>
              <a:rPr lang="en-US" sz="1500" dirty="0" err="1"/>
              <a:t>LongConsumer</a:t>
            </a:r>
            <a:r>
              <a:rPr lang="en-US" sz="1500" dirty="0"/>
              <a:t> {</a:t>
            </a:r>
          </a:p>
          <a:p>
            <a:pPr marL="0" indent="0">
              <a:buNone/>
            </a:pPr>
            <a:r>
              <a:rPr lang="en-US" sz="1500" dirty="0"/>
              <a:t>	void accept(long value);</a:t>
            </a:r>
          </a:p>
          <a:p>
            <a:pPr marL="0" indent="0">
              <a:buNone/>
            </a:pPr>
            <a:r>
              <a:rPr lang="en-US" sz="1500" dirty="0"/>
              <a:t>}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/>
              <a:t>LongConsumer</a:t>
            </a:r>
            <a:r>
              <a:rPr lang="en-US" sz="1500" dirty="0"/>
              <a:t> </a:t>
            </a:r>
            <a:r>
              <a:rPr lang="en-US" sz="1500" dirty="0" err="1"/>
              <a:t>longConsumer</a:t>
            </a:r>
            <a:r>
              <a:rPr lang="en-US" sz="1500" dirty="0"/>
              <a:t> = (long marks) -&gt; </a:t>
            </a:r>
            <a:r>
              <a:rPr lang="en-US" sz="1500" dirty="0" err="1"/>
              <a:t>System.out.println</a:t>
            </a:r>
            <a:r>
              <a:rPr lang="en-US" sz="1500" dirty="0"/>
              <a:t>("Marks: " + marks);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 err="1"/>
              <a:t>longConsumer.accept</a:t>
            </a:r>
            <a:r>
              <a:rPr lang="en-US" sz="1500" dirty="0"/>
              <a:t>(55);</a:t>
            </a:r>
          </a:p>
          <a:p>
            <a:pPr marL="0" indent="0">
              <a:buNone/>
            </a:pPr>
            <a:r>
              <a:rPr lang="en-US" sz="1500" dirty="0" err="1"/>
              <a:t>longConsumer.accept</a:t>
            </a:r>
            <a:r>
              <a:rPr lang="en-US" sz="1500" dirty="0"/>
              <a:t>(78);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D313C-58D3-4070-9B0A-3D4DC553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19703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 Continue…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FD5E-6A8F-48F2-95DA-F7E0211AAF21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43051" y="1033923"/>
          <a:ext cx="6115050" cy="353807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94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2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S.N.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  <a:latin typeface="Candara" pitchFamily="34" charset="0"/>
                        </a:rPr>
                        <a:t>Interface &amp; Description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5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1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BiConsumer&lt;T,U&gt;</a:t>
                      </a:r>
                      <a:br>
                        <a:rPr lang="en-US" sz="1400">
                          <a:effectLst/>
                          <a:latin typeface="Candara" pitchFamily="34" charset="0"/>
                        </a:rPr>
                      </a:br>
                      <a:r>
                        <a:rPr lang="en-US" sz="1400">
                          <a:effectLst/>
                          <a:latin typeface="Candara" pitchFamily="34" charset="0"/>
                        </a:rPr>
                        <a:t>Represents an operation that accepts two input arguments and returns no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9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2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BiFunction</a:t>
                      </a: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&lt;T,U,R&gt;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 function that accepts two arguments and produces a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5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3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BinaryOperator&lt;T&gt;</a:t>
                      </a:r>
                      <a:br>
                        <a:rPr lang="en-US" sz="1400">
                          <a:effectLst/>
                          <a:latin typeface="Candara" pitchFamily="34" charset="0"/>
                        </a:rPr>
                      </a:br>
                      <a:r>
                        <a:rPr lang="en-US" sz="1400">
                          <a:effectLst/>
                          <a:latin typeface="Candara" pitchFamily="34" charset="0"/>
                        </a:rPr>
                        <a:t>Represents an operation upon two operands of the same type, producing a result of the same type as the operands.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4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BiPredicate&lt;T,U&gt;</a:t>
                      </a:r>
                      <a:br>
                        <a:rPr lang="en-US" sz="1400">
                          <a:effectLst/>
                          <a:latin typeface="Candara" pitchFamily="34" charset="0"/>
                        </a:rPr>
                      </a:br>
                      <a:r>
                        <a:rPr lang="en-US" sz="1400">
                          <a:effectLst/>
                          <a:latin typeface="Candara" pitchFamily="34" charset="0"/>
                        </a:rPr>
                        <a:t>Represents a predicate (boolean-valued function) of two arguments.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39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5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BooleanSupplier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 supplier of </a:t>
                      </a:r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boolean</a:t>
                      </a: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-valued results.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05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6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Consumer&lt;T&gt;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an operation that accepts a single input argument and returns no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54A132-B06D-492F-BCF9-43E62887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500532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 Continue…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FD5E-6A8F-48F2-95DA-F7E0211AAF21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85900" y="914400"/>
          <a:ext cx="6286500" cy="374619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561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7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DoubleBinaryOperator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an operation upon two double-valued operands and producing a double-valued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5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8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DoubleConsumer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an operation that accepts a single double-valued argument and returns no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5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9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DoubleFunction</a:t>
                      </a: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&lt;R&gt;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 function that accepts a double-valued argument and produces a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5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10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DoublePredicate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 predicate (</a:t>
                      </a:r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boolean</a:t>
                      </a: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-valued function) of one double-valued argument.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11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DoubleSupplier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 supplier of double-valued results.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561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andara" pitchFamily="34" charset="0"/>
                        </a:rPr>
                        <a:t>12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DoubleToIntFunction</a:t>
                      </a:r>
                      <a:br>
                        <a:rPr lang="en-US" sz="14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Represents a function that accepts a double-valued argument and produces an </a:t>
                      </a:r>
                      <a:r>
                        <a:rPr lang="en-US" sz="14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andara" pitchFamily="34" charset="0"/>
                        </a:rPr>
                        <a:t>-valued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C0E9E-373F-4B10-B495-52B3E60A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938381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 Continue…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FD5E-6A8F-48F2-95DA-F7E0211AAF21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43051" y="1040595"/>
          <a:ext cx="6115050" cy="34742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94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13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DoubleToLongFunction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 function that accepts a double-valued argument and produces a long-valued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14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DoubleUnaryOperator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an operation on a single double-valued operand that produces a double-valued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15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Function&lt;T,R&gt;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 function that accepts one argument and produces a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16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IntBinaryOperator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an operation upon two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operands and producing an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17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IntConsumer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an operation that accepts a single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argument and returns no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FA060-385B-4670-8376-F80F5F97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4136772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 Continue…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1543051" y="1040595"/>
          <a:ext cx="6115050" cy="32456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94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18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IntFunction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&lt;R&gt;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 function that accepts an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argument and produces a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19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IntPredicate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 predicate (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boolean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function) of one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argument.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20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IntSupplier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 supplier of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results.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21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IntToDoubleFunction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 function that accepts an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argument and produces a double-valued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851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22</a:t>
                      </a:r>
                    </a:p>
                  </a:txBody>
                  <a:tcPr marL="4526" marR="4526" marT="4526" marB="4526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IntToLongFunction</a:t>
                      </a:r>
                      <a:br>
                        <a:rPr lang="en-US" sz="1500" dirty="0">
                          <a:effectLst/>
                          <a:latin typeface="Candara" pitchFamily="34" charset="0"/>
                        </a:rPr>
                      </a:b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Represents a function that accepts an </a:t>
                      </a:r>
                      <a:r>
                        <a:rPr lang="en-US" sz="1500" dirty="0" err="1">
                          <a:effectLst/>
                          <a:latin typeface="Candara" pitchFamily="34" charset="0"/>
                        </a:rPr>
                        <a:t>int</a:t>
                      </a:r>
                      <a:r>
                        <a:rPr lang="en-US" sz="1500" dirty="0">
                          <a:effectLst/>
                          <a:latin typeface="Candara" pitchFamily="34" charset="0"/>
                        </a:rPr>
                        <a:t>-valued argument and produces a long-valued result.</a:t>
                      </a:r>
                    </a:p>
                  </a:txBody>
                  <a:tcPr marL="4526" marR="4526" marT="4526" marB="45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FD5E-6A8F-48F2-95DA-F7E0211AAF2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B0DE7-A24A-403E-B14F-0AFDD6B2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74442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Function&lt;T, R&gt; default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Function&lt;Integer, Integer&gt; func_1 = x -&gt; x + 1;</a:t>
            </a:r>
          </a:p>
          <a:p>
            <a:pPr marL="0" indent="0">
              <a:buNone/>
            </a:pPr>
            <a:r>
              <a:rPr lang="en-US" dirty="0"/>
              <a:t>Function&lt;Integer, Integer&gt; func_2 = x -&gt; x * 2;</a:t>
            </a:r>
          </a:p>
          <a:p>
            <a:pPr marL="0" indent="0">
              <a:buNone/>
            </a:pPr>
            <a:r>
              <a:rPr lang="en-US" dirty="0"/>
              <a:t>Function&lt;Integer, Integer&gt; func_3 = </a:t>
            </a:r>
            <a:r>
              <a:rPr lang="en-US" dirty="0">
                <a:solidFill>
                  <a:srgbClr val="FF0000"/>
                </a:solidFill>
              </a:rPr>
              <a:t>func_1.andThen(func_2);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result = func_3.apply(1);</a:t>
            </a:r>
          </a:p>
          <a:p>
            <a:pPr marL="205740" lvl="1" indent="0">
              <a:buNone/>
            </a:pPr>
            <a:r>
              <a:rPr lang="en-US" i="1" dirty="0">
                <a:solidFill>
                  <a:srgbClr val="00B050"/>
                </a:solidFill>
              </a:rPr>
              <a:t>//result = 4</a:t>
            </a:r>
          </a:p>
          <a:p>
            <a:pPr marL="0" indent="0">
              <a:buNone/>
            </a:pPr>
            <a:r>
              <a:rPr lang="en-US" dirty="0"/>
              <a:t>Function&lt;Integer, Integer&gt; func_4 = func_1.compose(func_2);</a:t>
            </a:r>
          </a:p>
          <a:p>
            <a:pPr marL="0" indent="0">
              <a:buNone/>
            </a:pPr>
            <a:r>
              <a:rPr lang="en-US" dirty="0"/>
              <a:t>Result = func_4.apply(1);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//result =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6D888-D81C-49D3-8BEE-CB1739A4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74812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Predicate&lt;T&gt; default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Predicate&lt;Integer&gt; pd_1 = (x) -&gt; x &gt; 50;</a:t>
            </a:r>
          </a:p>
          <a:p>
            <a:pPr marL="0" indent="0">
              <a:buNone/>
            </a:pPr>
            <a:r>
              <a:rPr lang="en-US" dirty="0"/>
              <a:t>Predicate&lt;Integer&gt; pd_2 = (x) -&gt; x &lt; 60;</a:t>
            </a:r>
          </a:p>
          <a:p>
            <a:pPr marL="0" indent="0">
              <a:buNone/>
            </a:pPr>
            <a:r>
              <a:rPr lang="en-US" dirty="0"/>
              <a:t>Predicate&lt;Integer&gt; pd_3 = </a:t>
            </a:r>
            <a:r>
              <a:rPr lang="en-US" dirty="0">
                <a:solidFill>
                  <a:srgbClr val="FF0000"/>
                </a:solidFill>
              </a:rPr>
              <a:t>pd_1.and(pd_2);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("Result = " + pd_3.test(40));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//Result = false</a:t>
            </a:r>
          </a:p>
          <a:p>
            <a:pPr marL="0" indent="0">
              <a:buNone/>
            </a:pPr>
            <a:r>
              <a:rPr lang="en-US" dirty="0"/>
              <a:t>Predicate&lt;Integer&gt; pd_4 = </a:t>
            </a:r>
            <a:r>
              <a:rPr lang="en-US" dirty="0">
                <a:solidFill>
                  <a:srgbClr val="FF0000"/>
                </a:solidFill>
              </a:rPr>
              <a:t>pd_1.or(pd_2);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("Result = " + pd_4.test(40));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//Result = true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3AC8B-EEE3-4001-9F75-872B40E2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6642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829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50" i="1" dirty="0">
                <a:solidFill>
                  <a:srgbClr val="FF0000"/>
                </a:solidFill>
              </a:rPr>
              <a:t>Lambda expression:</a:t>
            </a:r>
          </a:p>
          <a:p>
            <a:pPr marL="0" indent="0">
              <a:buNone/>
            </a:pPr>
            <a:r>
              <a:rPr lang="fr-FR" sz="1650" dirty="0" err="1"/>
              <a:t>Comparator</a:t>
            </a:r>
            <a:r>
              <a:rPr lang="fr-FR" sz="1650" dirty="0"/>
              <a:t>&lt;Transaction&gt; </a:t>
            </a:r>
            <a:r>
              <a:rPr lang="fr-FR" sz="1650" dirty="0" err="1"/>
              <a:t>comp</a:t>
            </a:r>
            <a:r>
              <a:rPr lang="fr-FR" sz="1650" dirty="0"/>
              <a:t> = (Transaction t1, Transaction t2)-&gt; t1.getLocation().</a:t>
            </a:r>
            <a:r>
              <a:rPr lang="fr-FR" sz="1650" dirty="0" err="1"/>
              <a:t>compareTo</a:t>
            </a:r>
            <a:r>
              <a:rPr lang="fr-FR" sz="1650" dirty="0"/>
              <a:t>(t2.getLocation());</a:t>
            </a:r>
          </a:p>
          <a:p>
            <a:pPr marL="0" indent="0">
              <a:buNone/>
            </a:pPr>
            <a:r>
              <a:rPr lang="fr-FR" sz="1650" i="1" dirty="0">
                <a:solidFill>
                  <a:srgbClr val="FF0000"/>
                </a:solidFill>
              </a:rPr>
              <a:t>Method </a:t>
            </a:r>
            <a:r>
              <a:rPr lang="fr-FR" sz="1650" i="1" dirty="0" err="1">
                <a:solidFill>
                  <a:srgbClr val="FF0000"/>
                </a:solidFill>
              </a:rPr>
              <a:t>references</a:t>
            </a:r>
            <a:r>
              <a:rPr lang="fr-FR" sz="1650" i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650" dirty="0"/>
              <a:t>Comparator&lt;Transaction&gt; comp = </a:t>
            </a:r>
            <a:r>
              <a:rPr lang="en-US" sz="1650" dirty="0" err="1"/>
              <a:t>Comparator.comparing</a:t>
            </a:r>
            <a:r>
              <a:rPr lang="en-US" sz="1650" dirty="0"/>
              <a:t>(Transaction::</a:t>
            </a:r>
            <a:r>
              <a:rPr lang="en-US" sz="1650" dirty="0" err="1"/>
              <a:t>getLocation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endParaRPr lang="en-US" sz="1650" dirty="0"/>
          </a:p>
          <a:p>
            <a:r>
              <a:rPr lang="en-US" sz="1650" dirty="0"/>
              <a:t>Method references let you reuse existing method definitions and pass them just like lambdas.</a:t>
            </a:r>
          </a:p>
          <a:p>
            <a:r>
              <a:rPr lang="en-US" sz="1650" dirty="0"/>
              <a:t>Method references appear more readable and feel more natural than using lambda expressions.</a:t>
            </a:r>
          </a:p>
          <a:p>
            <a:r>
              <a:rPr lang="en-US" sz="1650" dirty="0"/>
              <a:t>Method references can be seen as shorthand for lambdas calling only a specific method.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0DB62-CFFA-45AB-A6B1-F7DB3418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19119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Method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There are mainly 3 types of method references supported:</a:t>
            </a:r>
          </a:p>
          <a:p>
            <a:r>
              <a:rPr lang="en-US" sz="1650" dirty="0"/>
              <a:t>A method reference to static method. For example Double::</a:t>
            </a:r>
            <a:r>
              <a:rPr lang="en-US" sz="1650" dirty="0" err="1"/>
              <a:t>parseDouble</a:t>
            </a:r>
            <a:r>
              <a:rPr lang="en-US" sz="1650" dirty="0"/>
              <a:t>, Collections::sort etc.</a:t>
            </a:r>
          </a:p>
          <a:p>
            <a:r>
              <a:rPr lang="en-US" sz="1650" dirty="0"/>
              <a:t>A method reference to an instance method. For example String::length, Person::</a:t>
            </a:r>
            <a:r>
              <a:rPr lang="en-US" sz="1650" dirty="0" err="1"/>
              <a:t>getName</a:t>
            </a:r>
            <a:r>
              <a:rPr lang="en-US" sz="1650" dirty="0"/>
              <a:t> etc.</a:t>
            </a:r>
          </a:p>
          <a:p>
            <a:r>
              <a:rPr lang="en-US" sz="1650" dirty="0"/>
              <a:t>A method reference to an instance method of an existing object. For example transaction::</a:t>
            </a:r>
            <a:r>
              <a:rPr lang="en-US" sz="1650" dirty="0" err="1"/>
              <a:t>getAmount</a:t>
            </a:r>
            <a:r>
              <a:rPr lang="en-US" sz="1650" dirty="0"/>
              <a:t>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D70E5-8796-4418-AEE6-9D63B4E2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946540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50" dirty="0"/>
              <a:t>Sometimes a lambda expression does nothing but call an existing method. In such cases we can use constructor reference.</a:t>
            </a:r>
          </a:p>
          <a:p>
            <a:r>
              <a:rPr lang="en-US" sz="1650" dirty="0"/>
              <a:t>You can create a reference to an existing constructor using its name and the keyword 'new'. For example: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FF0000"/>
                </a:solidFill>
              </a:rPr>
              <a:t>Lambda expression:</a:t>
            </a:r>
          </a:p>
          <a:p>
            <a:pPr marL="0" indent="0">
              <a:buNone/>
            </a:pPr>
            <a:r>
              <a:rPr lang="en-US" sz="1650" dirty="0"/>
              <a:t>Supplier&lt;Transaction&gt; supplier = ()-&gt;new Transaction();</a:t>
            </a:r>
          </a:p>
          <a:p>
            <a:pPr marL="0" indent="0">
              <a:buNone/>
            </a:pPr>
            <a:r>
              <a:rPr lang="en-US" sz="1650" dirty="0"/>
              <a:t>Function&lt;Integer, Transaction&gt; </a:t>
            </a:r>
            <a:r>
              <a:rPr lang="en-US" sz="1650" dirty="0" err="1"/>
              <a:t>func</a:t>
            </a:r>
            <a:r>
              <a:rPr lang="en-US" sz="1650" dirty="0"/>
              <a:t> = ()-&gt;new Transaction(1001);</a:t>
            </a:r>
          </a:p>
          <a:p>
            <a:pPr marL="0" indent="0">
              <a:buNone/>
            </a:pPr>
            <a:r>
              <a:rPr lang="en-US" sz="1650" dirty="0">
                <a:solidFill>
                  <a:srgbClr val="FF0000"/>
                </a:solidFill>
              </a:rPr>
              <a:t>Constructor reference:</a:t>
            </a:r>
          </a:p>
          <a:p>
            <a:pPr marL="0" indent="0">
              <a:buNone/>
            </a:pPr>
            <a:r>
              <a:rPr lang="en-US" sz="1650" dirty="0"/>
              <a:t>Supplier&lt;Transaction&gt; supplier = Transaction::new;</a:t>
            </a:r>
          </a:p>
          <a:p>
            <a:pPr marL="0" indent="0">
              <a:buNone/>
            </a:pPr>
            <a:r>
              <a:rPr lang="en-US" sz="1650" dirty="0"/>
              <a:t>Function&lt;Integer, Transaction&gt; </a:t>
            </a:r>
            <a:r>
              <a:rPr lang="en-US" sz="1650" dirty="0" err="1"/>
              <a:t>func</a:t>
            </a:r>
            <a:r>
              <a:rPr lang="en-US" sz="1650" dirty="0"/>
              <a:t> = Transaction::new;</a:t>
            </a:r>
          </a:p>
          <a:p>
            <a:pPr marL="0" indent="0">
              <a:buNone/>
            </a:pPr>
            <a:r>
              <a:rPr lang="en-US" sz="1650" dirty="0"/>
              <a:t>Transaction t = </a:t>
            </a:r>
            <a:r>
              <a:rPr lang="en-US" sz="1650" dirty="0" err="1"/>
              <a:t>func.apply</a:t>
            </a:r>
            <a:r>
              <a:rPr lang="en-US" sz="1650" dirty="0"/>
              <a:t>(1001);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CA5D8-EAA0-4152-9FCF-4E3DB1F2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58993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reference to static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50" dirty="0"/>
              <a:t>public class </a:t>
            </a:r>
            <a:r>
              <a:rPr lang="en-US" sz="1650" dirty="0" err="1"/>
              <a:t>MethodReferencesTest</a:t>
            </a:r>
            <a:r>
              <a:rPr lang="en-US" sz="1650" dirty="0"/>
              <a:t> {</a:t>
            </a:r>
          </a:p>
          <a:p>
            <a:pPr marL="0" indent="0">
              <a:buNone/>
            </a:pPr>
            <a:r>
              <a:rPr lang="en-US" sz="1650" dirty="0"/>
              <a:t>	public static void main(String[] </a:t>
            </a:r>
            <a:r>
              <a:rPr lang="en-US" sz="1650" dirty="0" err="1"/>
              <a:t>args</a:t>
            </a:r>
            <a:r>
              <a:rPr lang="en-US" sz="1650" dirty="0"/>
              <a:t>) {</a:t>
            </a:r>
          </a:p>
          <a:p>
            <a:pPr marL="0" indent="0">
              <a:buNone/>
            </a:pPr>
            <a:r>
              <a:rPr lang="en-US" sz="1650" dirty="0" err="1"/>
              <a:t>IntPredicate</a:t>
            </a:r>
            <a:r>
              <a:rPr lang="en-US" sz="1650" dirty="0"/>
              <a:t> predicate = </a:t>
            </a:r>
            <a:r>
              <a:rPr lang="en-US" sz="1650" dirty="0" err="1">
                <a:solidFill>
                  <a:srgbClr val="FF0000"/>
                </a:solidFill>
              </a:rPr>
              <a:t>MethodReferencesTest</a:t>
            </a:r>
            <a:r>
              <a:rPr lang="en-US" sz="1650" dirty="0">
                <a:solidFill>
                  <a:srgbClr val="FF0000"/>
                </a:solidFill>
              </a:rPr>
              <a:t>::</a:t>
            </a:r>
            <a:r>
              <a:rPr lang="en-US" sz="1650" dirty="0" err="1">
                <a:solidFill>
                  <a:srgbClr val="FF0000"/>
                </a:solidFill>
              </a:rPr>
              <a:t>isCool</a:t>
            </a:r>
            <a:r>
              <a:rPr lang="en-US" sz="1650" dirty="0"/>
              <a:t>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("Is Cool? " + </a:t>
            </a:r>
            <a:r>
              <a:rPr lang="en-US" sz="1650" dirty="0" err="1"/>
              <a:t>predicate.test</a:t>
            </a:r>
            <a:r>
              <a:rPr lang="en-US" sz="1650" dirty="0"/>
              <a:t>(25));</a:t>
            </a:r>
          </a:p>
          <a:p>
            <a:pPr marL="0" indent="0">
              <a:buNone/>
            </a:pPr>
            <a:r>
              <a:rPr lang="en-US" sz="1650" dirty="0"/>
              <a:t>	}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/>
              <a:t>	public static </a:t>
            </a:r>
            <a:r>
              <a:rPr lang="en-US" sz="1650" dirty="0" err="1"/>
              <a:t>boolean</a:t>
            </a:r>
            <a:r>
              <a:rPr lang="en-US" sz="1650" dirty="0"/>
              <a:t> </a:t>
            </a:r>
            <a:r>
              <a:rPr lang="en-US" sz="1650" dirty="0" err="1"/>
              <a:t>isCool</a:t>
            </a:r>
            <a:r>
              <a:rPr lang="en-US" sz="1650" dirty="0"/>
              <a:t>(</a:t>
            </a:r>
            <a:r>
              <a:rPr lang="en-US" sz="1650" dirty="0" err="1"/>
              <a:t>int</a:t>
            </a:r>
            <a:r>
              <a:rPr lang="en-US" sz="1650" dirty="0"/>
              <a:t> temperature) {</a:t>
            </a:r>
          </a:p>
          <a:p>
            <a:pPr marL="0" indent="0">
              <a:buNone/>
            </a:pPr>
            <a:r>
              <a:rPr lang="en-US" sz="1650" dirty="0"/>
              <a:t>		if (temperature &lt; 20)</a:t>
            </a:r>
          </a:p>
          <a:p>
            <a:pPr marL="0" indent="0">
              <a:buNone/>
            </a:pPr>
            <a:r>
              <a:rPr lang="en-US" sz="1650" dirty="0"/>
              <a:t>			return true;</a:t>
            </a:r>
          </a:p>
          <a:p>
            <a:pPr marL="0" indent="0">
              <a:buNone/>
            </a:pPr>
            <a:r>
              <a:rPr lang="en-US" sz="1650" dirty="0"/>
              <a:t>		return false;</a:t>
            </a:r>
          </a:p>
          <a:p>
            <a:pPr marL="0" indent="0">
              <a:buNone/>
            </a:pPr>
            <a:r>
              <a:rPr lang="en-US" sz="1650" dirty="0"/>
              <a:t>	}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43D37-8ADC-4292-9FC6-E7A942AB1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7000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reference to instance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	public static void main(String[] </a:t>
            </a:r>
            <a:r>
              <a:rPr lang="en-US" sz="1500" dirty="0" err="1"/>
              <a:t>args</a:t>
            </a:r>
            <a:r>
              <a:rPr lang="en-US" sz="1500" dirty="0"/>
              <a:t>) {</a:t>
            </a:r>
          </a:p>
          <a:p>
            <a:pPr marL="0" indent="0">
              <a:buNone/>
            </a:pPr>
            <a:r>
              <a:rPr lang="en-US" sz="1500" dirty="0"/>
              <a:t>List&lt;Transaction&gt; transactions = new </a:t>
            </a:r>
            <a:r>
              <a:rPr lang="en-US" sz="1500" dirty="0" err="1"/>
              <a:t>ArrayList</a:t>
            </a:r>
            <a:r>
              <a:rPr lang="en-US" sz="1500" dirty="0"/>
              <a:t>&lt;Transaction&gt;();</a:t>
            </a:r>
          </a:p>
          <a:p>
            <a:pPr marL="0" indent="0">
              <a:buNone/>
            </a:pPr>
            <a:r>
              <a:rPr lang="en-US" sz="1500" dirty="0" err="1"/>
              <a:t>transactions.add</a:t>
            </a:r>
            <a:r>
              <a:rPr lang="en-US" sz="1500" dirty="0"/>
              <a:t>(new Transaction(new Date(), 10000, "PUNE"));</a:t>
            </a:r>
          </a:p>
          <a:p>
            <a:pPr marL="0" indent="0">
              <a:buNone/>
            </a:pPr>
            <a:r>
              <a:rPr lang="en-US" sz="1500" dirty="0" err="1"/>
              <a:t>transactions.add</a:t>
            </a:r>
            <a:r>
              <a:rPr lang="en-US" sz="1500" dirty="0"/>
              <a:t>(new Transaction(new Date(), 20000, "MUMBAI"));</a:t>
            </a:r>
          </a:p>
          <a:p>
            <a:pPr marL="0" indent="0">
              <a:buNone/>
            </a:pPr>
            <a:r>
              <a:rPr lang="en-US" sz="1500" dirty="0"/>
              <a:t>List&lt;Integer&gt; </a:t>
            </a:r>
            <a:r>
              <a:rPr lang="en-US" sz="1500" dirty="0" err="1"/>
              <a:t>listAllAmounts</a:t>
            </a:r>
            <a:r>
              <a:rPr lang="en-US" sz="1500" dirty="0"/>
              <a:t> = </a:t>
            </a:r>
            <a:r>
              <a:rPr lang="en-US" sz="1500" dirty="0" err="1"/>
              <a:t>listAllAmounts</a:t>
            </a:r>
            <a:r>
              <a:rPr lang="en-US" sz="1500" dirty="0"/>
              <a:t>(transactions, </a:t>
            </a:r>
            <a:r>
              <a:rPr lang="en-US" sz="1500" dirty="0">
                <a:solidFill>
                  <a:srgbClr val="FF0000"/>
                </a:solidFill>
              </a:rPr>
              <a:t>Transaction::</a:t>
            </a:r>
            <a:r>
              <a:rPr lang="en-US" sz="1500" dirty="0" err="1">
                <a:solidFill>
                  <a:srgbClr val="FF0000"/>
                </a:solidFill>
              </a:rPr>
              <a:t>getAmount</a:t>
            </a:r>
            <a:r>
              <a:rPr lang="en-US" sz="1500" dirty="0"/>
              <a:t>);</a:t>
            </a:r>
          </a:p>
          <a:p>
            <a:pPr marL="0" indent="0">
              <a:buNone/>
            </a:pPr>
            <a:r>
              <a:rPr lang="en-US" sz="1500" dirty="0"/>
              <a:t>	}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	private static List&lt;Integer&gt; </a:t>
            </a:r>
            <a:r>
              <a:rPr lang="en-US" sz="1500" dirty="0" err="1"/>
              <a:t>listAllAmounts</a:t>
            </a:r>
            <a:r>
              <a:rPr lang="en-US" sz="1500" dirty="0"/>
              <a:t>(List&lt;Transaction&gt; transactions, Function&lt;Transaction, Integer&gt; f){</a:t>
            </a:r>
          </a:p>
          <a:p>
            <a:pPr marL="0" indent="0">
              <a:buNone/>
            </a:pPr>
            <a:r>
              <a:rPr lang="en-US" sz="1500" dirty="0"/>
              <a:t>List&lt;Integer&gt; result = new </a:t>
            </a:r>
            <a:r>
              <a:rPr lang="en-US" sz="1500" dirty="0" err="1"/>
              <a:t>ArrayList</a:t>
            </a:r>
            <a:r>
              <a:rPr lang="en-US" sz="1500" dirty="0"/>
              <a:t>&lt;Integer&gt;();</a:t>
            </a:r>
          </a:p>
          <a:p>
            <a:pPr marL="0" indent="0">
              <a:buNone/>
            </a:pPr>
            <a:r>
              <a:rPr lang="en-US" sz="1500" dirty="0" err="1"/>
              <a:t>transactions.forEach</a:t>
            </a:r>
            <a:r>
              <a:rPr lang="en-US" sz="1500" dirty="0"/>
              <a:t>(transaction -&gt; </a:t>
            </a:r>
            <a:r>
              <a:rPr lang="en-US" sz="1500" dirty="0" err="1"/>
              <a:t>result.add</a:t>
            </a:r>
            <a:r>
              <a:rPr lang="en-US" sz="1500" dirty="0"/>
              <a:t>(</a:t>
            </a:r>
            <a:r>
              <a:rPr lang="en-US" sz="1500" dirty="0" err="1"/>
              <a:t>f.apply</a:t>
            </a:r>
            <a:r>
              <a:rPr lang="en-US" sz="1500" dirty="0"/>
              <a:t>(transaction)));</a:t>
            </a:r>
          </a:p>
          <a:p>
            <a:pPr marL="0" indent="0">
              <a:buNone/>
            </a:pPr>
            <a:r>
              <a:rPr lang="en-US" sz="1500" dirty="0"/>
              <a:t>		return result;</a:t>
            </a:r>
          </a:p>
          <a:p>
            <a:pPr marL="0" indent="0">
              <a:buNone/>
            </a:pPr>
            <a:r>
              <a:rPr lang="en-US" sz="1500" dirty="0"/>
              <a:t>	}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3F304-01F8-4FF7-B0E4-33B8F4FC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7076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reference to an existing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50" dirty="0"/>
              <a:t>	public static void main(String[] </a:t>
            </a:r>
            <a:r>
              <a:rPr lang="en-US" sz="1650" dirty="0" err="1"/>
              <a:t>args</a:t>
            </a:r>
            <a:r>
              <a:rPr lang="en-US" sz="1650" dirty="0"/>
              <a:t>) {</a:t>
            </a:r>
          </a:p>
          <a:p>
            <a:pPr marL="0" indent="0">
              <a:buNone/>
            </a:pPr>
            <a:r>
              <a:rPr lang="en-US" sz="1650" dirty="0"/>
              <a:t>List&lt;Transaction&gt; transactions = new </a:t>
            </a:r>
            <a:r>
              <a:rPr lang="en-US" sz="1650" dirty="0" err="1"/>
              <a:t>ArrayList</a:t>
            </a:r>
            <a:r>
              <a:rPr lang="en-US" sz="1650" dirty="0"/>
              <a:t>&lt;Transaction&gt;();</a:t>
            </a:r>
          </a:p>
          <a:p>
            <a:pPr marL="0" indent="0">
              <a:buNone/>
            </a:pPr>
            <a:r>
              <a:rPr lang="en-US" sz="1650" dirty="0" err="1"/>
              <a:t>transactions.add</a:t>
            </a:r>
            <a:r>
              <a:rPr lang="en-US" sz="1650" dirty="0"/>
              <a:t>(new Transaction(new Date(), 10000, "PUNE"));</a:t>
            </a:r>
          </a:p>
          <a:p>
            <a:pPr marL="0" indent="0">
              <a:buNone/>
            </a:pPr>
            <a:r>
              <a:rPr lang="en-US" sz="1650" dirty="0" err="1"/>
              <a:t>transactions.add</a:t>
            </a:r>
            <a:r>
              <a:rPr lang="en-US" sz="1650" dirty="0"/>
              <a:t>(new Transaction(new Date(), 20000, "MUMBAI"));</a:t>
            </a:r>
          </a:p>
          <a:p>
            <a:pPr marL="0" indent="0">
              <a:buNone/>
            </a:pPr>
            <a:r>
              <a:rPr lang="en-US" sz="1650" dirty="0" err="1"/>
              <a:t>printTransactions</a:t>
            </a:r>
            <a:r>
              <a:rPr lang="en-US" sz="1650" dirty="0"/>
              <a:t>(transactions, </a:t>
            </a:r>
            <a:r>
              <a:rPr lang="en-US" sz="1650" dirty="0" err="1">
                <a:solidFill>
                  <a:srgbClr val="FF0000"/>
                </a:solidFill>
              </a:rPr>
              <a:t>System.out</a:t>
            </a:r>
            <a:r>
              <a:rPr lang="en-US" sz="1650" dirty="0">
                <a:solidFill>
                  <a:srgbClr val="FF0000"/>
                </a:solidFill>
              </a:rPr>
              <a:t>::</a:t>
            </a:r>
            <a:r>
              <a:rPr lang="en-US" sz="1650" dirty="0" err="1">
                <a:solidFill>
                  <a:srgbClr val="FF0000"/>
                </a:solidFill>
              </a:rPr>
              <a:t>println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/>
              <a:t>	}</a:t>
            </a:r>
          </a:p>
          <a:p>
            <a:pPr marL="0" indent="0">
              <a:buNone/>
            </a:pPr>
            <a:r>
              <a:rPr lang="en-US" sz="1650" dirty="0"/>
              <a:t>	</a:t>
            </a:r>
          </a:p>
          <a:p>
            <a:pPr marL="0" indent="0">
              <a:buNone/>
            </a:pPr>
            <a:r>
              <a:rPr lang="en-US" sz="1650" dirty="0"/>
              <a:t>	private static void </a:t>
            </a:r>
            <a:r>
              <a:rPr lang="en-US" sz="1650" dirty="0" err="1"/>
              <a:t>printTransactions</a:t>
            </a:r>
            <a:r>
              <a:rPr lang="en-US" sz="1650" dirty="0"/>
              <a:t>(List&lt;Transaction&gt; transactions, Consumer consumer) {</a:t>
            </a:r>
          </a:p>
          <a:p>
            <a:pPr marL="0" indent="0">
              <a:buNone/>
            </a:pPr>
            <a:r>
              <a:rPr lang="en-US" sz="1650" dirty="0" err="1"/>
              <a:t>transactions.forEach</a:t>
            </a:r>
            <a:r>
              <a:rPr lang="en-US" sz="1650" dirty="0"/>
              <a:t>(transaction -&gt; </a:t>
            </a:r>
            <a:r>
              <a:rPr lang="en-US" sz="1650" dirty="0" err="1"/>
              <a:t>consumer.accept</a:t>
            </a:r>
            <a:r>
              <a:rPr lang="en-US" sz="1650" dirty="0"/>
              <a:t>(transaction));</a:t>
            </a:r>
          </a:p>
          <a:p>
            <a:pPr marL="0" indent="0">
              <a:buNone/>
            </a:pPr>
            <a:r>
              <a:rPr lang="en-US" sz="1650" dirty="0"/>
              <a:t>	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6A7FE-FC18-4357-9EA1-DCD791B5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66188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to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Function&lt;Integer, Transaction&gt; </a:t>
            </a:r>
            <a:r>
              <a:rPr lang="en-US" sz="1650" dirty="0" err="1"/>
              <a:t>func</a:t>
            </a:r>
            <a:r>
              <a:rPr lang="en-US" sz="1650" dirty="0"/>
              <a:t> = </a:t>
            </a:r>
            <a:r>
              <a:rPr lang="en-US" sz="1650" dirty="0">
                <a:solidFill>
                  <a:srgbClr val="FF0000"/>
                </a:solidFill>
              </a:rPr>
              <a:t>Transaction::new</a:t>
            </a:r>
            <a:r>
              <a:rPr lang="en-US" sz="1650" dirty="0"/>
              <a:t>;</a:t>
            </a:r>
          </a:p>
          <a:p>
            <a:pPr marL="0" indent="0">
              <a:buNone/>
            </a:pPr>
            <a:r>
              <a:rPr lang="en-US" sz="1650" dirty="0"/>
              <a:t>Predicate&lt;Transaction&gt; </a:t>
            </a:r>
            <a:r>
              <a:rPr lang="en-US" sz="1650" dirty="0" err="1"/>
              <a:t>tranPredicate</a:t>
            </a:r>
            <a:r>
              <a:rPr lang="en-US" sz="1650" dirty="0"/>
              <a:t> = (Transaction transaction) -&gt; </a:t>
            </a:r>
            <a:r>
              <a:rPr lang="en-US" sz="1650" dirty="0" err="1"/>
              <a:t>transaction.getAmount</a:t>
            </a:r>
            <a:r>
              <a:rPr lang="en-US" sz="1650" dirty="0"/>
              <a:t>() &gt; 10000 ? true : false;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("Big transaction: " + </a:t>
            </a:r>
            <a:r>
              <a:rPr lang="en-US" sz="1650" dirty="0" err="1"/>
              <a:t>tranPredicate.test</a:t>
            </a:r>
            <a:r>
              <a:rPr lang="en-US" sz="1650" dirty="0"/>
              <a:t>(</a:t>
            </a:r>
            <a:r>
              <a:rPr lang="en-US" sz="1650" dirty="0" err="1"/>
              <a:t>func.apply</a:t>
            </a:r>
            <a:r>
              <a:rPr lang="en-US" sz="1650" dirty="0"/>
              <a:t>(10000)));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97B7B-9111-4273-AF6B-E3AAD3A6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46816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885950"/>
            <a:ext cx="6172200" cy="742950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Streams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1F69F9-C105-4525-BC37-8FF8C9EB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778890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streams?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RDBMS</a:t>
            </a:r>
          </a:p>
          <a:p>
            <a:pPr marL="411480" lvl="2" indent="0">
              <a:buNone/>
            </a:pPr>
            <a:r>
              <a:rPr lang="en-US" dirty="0"/>
              <a:t>Suppose we have an order table &amp; we wish to find out list of orders having order price less than 5000. How do I write the query?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SELECT * FROM ORDER WHERE PRICE &lt; 5000</a:t>
            </a:r>
          </a:p>
          <a:p>
            <a:r>
              <a:rPr lang="en-US" dirty="0"/>
              <a:t>Java</a:t>
            </a:r>
          </a:p>
          <a:p>
            <a:pPr marL="411480" lvl="2" indent="0">
              <a:buNone/>
            </a:pPr>
            <a:r>
              <a:rPr lang="en-US" dirty="0"/>
              <a:t>Suppose we have an </a:t>
            </a:r>
            <a:r>
              <a:rPr lang="en-US" dirty="0" err="1"/>
              <a:t>arraylist</a:t>
            </a:r>
            <a:r>
              <a:rPr lang="en-US" dirty="0"/>
              <a:t> having many Order objects &amp; we wish to find out the orders having order price less than 5000. How do I write a program?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for(Order </a:t>
            </a:r>
            <a:r>
              <a:rPr lang="en-US" b="1" dirty="0" err="1">
                <a:solidFill>
                  <a:srgbClr val="00B050"/>
                </a:solidFill>
              </a:rPr>
              <a:t>order</a:t>
            </a:r>
            <a:r>
              <a:rPr lang="en-US" b="1" dirty="0">
                <a:solidFill>
                  <a:srgbClr val="00B050"/>
                </a:solidFill>
              </a:rPr>
              <a:t>: orders) {</a:t>
            </a:r>
          </a:p>
          <a:p>
            <a:pPr marL="651510" lvl="3" indent="0">
              <a:buNone/>
            </a:pPr>
            <a:r>
              <a:rPr lang="en-US" sz="1500" b="1" dirty="0">
                <a:solidFill>
                  <a:srgbClr val="00B050"/>
                </a:solidFill>
              </a:rPr>
              <a:t>if (</a:t>
            </a:r>
            <a:r>
              <a:rPr lang="en-US" sz="1500" b="1" dirty="0" err="1">
                <a:solidFill>
                  <a:srgbClr val="00B050"/>
                </a:solidFill>
              </a:rPr>
              <a:t>order.getPrice</a:t>
            </a:r>
            <a:r>
              <a:rPr lang="en-US" sz="1500" b="1" dirty="0">
                <a:solidFill>
                  <a:srgbClr val="00B050"/>
                </a:solidFill>
              </a:rPr>
              <a:t>() &lt; 5000)</a:t>
            </a:r>
          </a:p>
          <a:p>
            <a:pPr marL="857250" lvl="4" indent="0">
              <a:buNone/>
            </a:pPr>
            <a:r>
              <a:rPr lang="en-US" sz="1500" b="1" dirty="0">
                <a:solidFill>
                  <a:srgbClr val="00B050"/>
                </a:solidFill>
              </a:rPr>
              <a:t>print(order);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7499E-1AA7-466D-AEB9-6A1D099C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66262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streams?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RDBMS</a:t>
            </a:r>
          </a:p>
          <a:p>
            <a:pPr marL="411480" lvl="2" indent="0">
              <a:buNone/>
            </a:pPr>
            <a:r>
              <a:rPr lang="en-US" dirty="0"/>
              <a:t>Now suppose we wish to find out orders having price less than 5000 &amp; sorted by price in ascending fashion. How do I write the query?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SELECT * FROM ORDER 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WHERE PRICE &lt; 5000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ORDER BY PRICE</a:t>
            </a:r>
          </a:p>
          <a:p>
            <a:r>
              <a:rPr lang="en-US" dirty="0"/>
              <a:t>Java</a:t>
            </a:r>
          </a:p>
          <a:p>
            <a:pPr marL="411480" lvl="2" indent="0">
              <a:buNone/>
            </a:pPr>
            <a:r>
              <a:rPr lang="en-US" dirty="0"/>
              <a:t>How do I achieve the above requirement in Java?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026" name="Picture 2" descr="Afbeeldingsresultaat voor thinking mi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493" y="3314700"/>
            <a:ext cx="1164431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2411C-765E-4145-829D-278FCEEB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63975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streams?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2 options to meet the requirement:</a:t>
            </a:r>
          </a:p>
          <a:p>
            <a:pPr marL="0" indent="0">
              <a:buNone/>
            </a:pPr>
            <a:r>
              <a:rPr lang="en-US" dirty="0"/>
              <a:t>Write a complex code using traditional way i.e.</a:t>
            </a:r>
          </a:p>
          <a:p>
            <a:pPr marL="548640" lvl="1" indent="-342900">
              <a:buFont typeface="+mj-lt"/>
              <a:buAutoNum type="arabicPeriod"/>
            </a:pPr>
            <a:r>
              <a:rPr lang="en-US" dirty="0"/>
              <a:t>Create a separate </a:t>
            </a:r>
            <a:r>
              <a:rPr lang="en-US" dirty="0" err="1"/>
              <a:t>arraylist</a:t>
            </a:r>
            <a:r>
              <a:rPr lang="en-US" dirty="0"/>
              <a:t> for orders having price less than 5000.</a:t>
            </a:r>
          </a:p>
          <a:p>
            <a:pPr marL="548640" lvl="1" indent="-342900">
              <a:buFont typeface="+mj-lt"/>
              <a:buAutoNum type="arabicPeriod"/>
            </a:pPr>
            <a:r>
              <a:rPr lang="en-US" dirty="0"/>
              <a:t>Sort the order list by price.</a:t>
            </a:r>
          </a:p>
          <a:p>
            <a:pPr marL="0" indent="0">
              <a:buNone/>
            </a:pPr>
            <a:r>
              <a:rPr lang="en-US" dirty="0"/>
              <a:t>Second option is to use java 1.8 exciting feature called ‘Streams’.</a:t>
            </a:r>
          </a:p>
          <a:p>
            <a:pPr marL="20574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List&lt;Order&gt; </a:t>
            </a:r>
            <a:r>
              <a:rPr lang="en-US" b="1" dirty="0" err="1">
                <a:solidFill>
                  <a:srgbClr val="00B050"/>
                </a:solidFill>
              </a:rPr>
              <a:t>finalOrders</a:t>
            </a:r>
            <a:r>
              <a:rPr lang="en-US" b="1" dirty="0">
                <a:solidFill>
                  <a:srgbClr val="00B050"/>
                </a:solidFill>
              </a:rPr>
              <a:t> = </a:t>
            </a:r>
            <a:r>
              <a:rPr lang="en-US" b="1" dirty="0" err="1">
                <a:solidFill>
                  <a:srgbClr val="00B050"/>
                </a:solidFill>
              </a:rPr>
              <a:t>orders.stream</a:t>
            </a:r>
            <a:r>
              <a:rPr lang="en-US" b="1" dirty="0">
                <a:solidFill>
                  <a:srgbClr val="00B050"/>
                </a:solidFill>
              </a:rPr>
              <a:t>().filter(order -&gt; </a:t>
            </a:r>
            <a:r>
              <a:rPr lang="en-US" b="1" dirty="0" err="1">
                <a:solidFill>
                  <a:srgbClr val="00B050"/>
                </a:solidFill>
              </a:rPr>
              <a:t>order.getPrice</a:t>
            </a:r>
            <a:r>
              <a:rPr lang="en-US" b="1" dirty="0">
                <a:solidFill>
                  <a:srgbClr val="00B050"/>
                </a:solidFill>
              </a:rPr>
              <a:t>() &lt; 5000).sorted(</a:t>
            </a:r>
            <a:r>
              <a:rPr lang="en-US" b="1" dirty="0" err="1">
                <a:solidFill>
                  <a:srgbClr val="00B050"/>
                </a:solidFill>
              </a:rPr>
              <a:t>Comparator.comparing</a:t>
            </a:r>
            <a:r>
              <a:rPr lang="en-US" b="1" dirty="0">
                <a:solidFill>
                  <a:srgbClr val="00B050"/>
                </a:solidFill>
              </a:rPr>
              <a:t>(Order::</a:t>
            </a:r>
            <a:r>
              <a:rPr lang="en-US" b="1" dirty="0" err="1">
                <a:solidFill>
                  <a:srgbClr val="00B050"/>
                </a:solidFill>
              </a:rPr>
              <a:t>getPrice</a:t>
            </a:r>
            <a:r>
              <a:rPr lang="en-US" b="1" dirty="0">
                <a:solidFill>
                  <a:srgbClr val="00B050"/>
                </a:solidFill>
              </a:rPr>
              <a:t>)).collect(</a:t>
            </a:r>
            <a:r>
              <a:rPr lang="en-US" b="1" dirty="0" err="1">
                <a:solidFill>
                  <a:srgbClr val="00B050"/>
                </a:solidFill>
              </a:rPr>
              <a:t>Collectors.toList</a:t>
            </a:r>
            <a:r>
              <a:rPr lang="en-US" b="1" dirty="0">
                <a:solidFill>
                  <a:srgbClr val="00B050"/>
                </a:solidFill>
              </a:rPr>
              <a:t>());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A7ABA-7BBE-4906-892C-F82BA1CE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0702072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streams?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RDBMS</a:t>
            </a:r>
          </a:p>
          <a:p>
            <a:pPr marL="411480" lvl="2" indent="0">
              <a:buNone/>
            </a:pPr>
            <a:r>
              <a:rPr lang="en-US" dirty="0"/>
              <a:t>Now suppose we wish to find out location based minimum order price order by order location. How do I write the query?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SELECT LOCATION, MIN(PRICE) FROM ORDER 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GROUP BY LOCATION </a:t>
            </a:r>
          </a:p>
          <a:p>
            <a:pPr marL="411480" lvl="2" indent="0">
              <a:buNone/>
            </a:pPr>
            <a:r>
              <a:rPr lang="en-US" b="1" dirty="0">
                <a:solidFill>
                  <a:srgbClr val="00B050"/>
                </a:solidFill>
              </a:rPr>
              <a:t>ORDER BY LOCATION</a:t>
            </a:r>
          </a:p>
          <a:p>
            <a:r>
              <a:rPr lang="en-US" dirty="0"/>
              <a:t>Java</a:t>
            </a:r>
          </a:p>
          <a:p>
            <a:pPr marL="205740" lvl="1" indent="0">
              <a:buNone/>
            </a:pPr>
            <a:r>
              <a:rPr lang="en-US" b="1" dirty="0">
                <a:solidFill>
                  <a:srgbClr val="00B050"/>
                </a:solidFill>
              </a:rPr>
              <a:t>Map&lt;</a:t>
            </a:r>
            <a:r>
              <a:rPr lang="en-US" b="1" dirty="0" err="1">
                <a:solidFill>
                  <a:srgbClr val="00B050"/>
                </a:solidFill>
              </a:rPr>
              <a:t>String,Optional</a:t>
            </a:r>
            <a:r>
              <a:rPr lang="en-US" b="1" dirty="0">
                <a:solidFill>
                  <a:srgbClr val="00B050"/>
                </a:solidFill>
              </a:rPr>
              <a:t>&lt;Order&gt;&gt; </a:t>
            </a:r>
            <a:r>
              <a:rPr lang="en-US" b="1" dirty="0" err="1">
                <a:solidFill>
                  <a:srgbClr val="00B050"/>
                </a:solidFill>
              </a:rPr>
              <a:t>minPriceOrderByLocation</a:t>
            </a:r>
            <a:r>
              <a:rPr lang="en-US" b="1" dirty="0">
                <a:solidFill>
                  <a:srgbClr val="00B050"/>
                </a:solidFill>
              </a:rPr>
              <a:t> = </a:t>
            </a:r>
            <a:r>
              <a:rPr lang="en-US" b="1" dirty="0" err="1">
                <a:solidFill>
                  <a:srgbClr val="00B050"/>
                </a:solidFill>
              </a:rPr>
              <a:t>orders.stream</a:t>
            </a:r>
            <a:r>
              <a:rPr lang="en-US" b="1" dirty="0">
                <a:solidFill>
                  <a:srgbClr val="00B050"/>
                </a:solidFill>
              </a:rPr>
              <a:t>().collect(</a:t>
            </a:r>
            <a:r>
              <a:rPr lang="en-US" b="1" dirty="0" err="1">
                <a:solidFill>
                  <a:srgbClr val="00B050"/>
                </a:solidFill>
              </a:rPr>
              <a:t>Collectors.groupingBy</a:t>
            </a:r>
            <a:r>
              <a:rPr lang="en-US" b="1" dirty="0">
                <a:solidFill>
                  <a:srgbClr val="00B050"/>
                </a:solidFill>
              </a:rPr>
              <a:t>(Order::</a:t>
            </a:r>
            <a:r>
              <a:rPr lang="en-US" b="1" dirty="0" err="1">
                <a:solidFill>
                  <a:srgbClr val="00B050"/>
                </a:solidFill>
              </a:rPr>
              <a:t>getLocation</a:t>
            </a:r>
            <a:r>
              <a:rPr lang="en-US" b="1" dirty="0">
                <a:solidFill>
                  <a:srgbClr val="00B050"/>
                </a:solidFill>
              </a:rPr>
              <a:t>, </a:t>
            </a:r>
            <a:r>
              <a:rPr lang="en-US" b="1" dirty="0" err="1">
                <a:solidFill>
                  <a:srgbClr val="00B050"/>
                </a:solidFill>
              </a:rPr>
              <a:t>Collectors.minBy</a:t>
            </a:r>
            <a:r>
              <a:rPr lang="en-US" b="1" dirty="0">
                <a:solidFill>
                  <a:srgbClr val="00B050"/>
                </a:solidFill>
              </a:rPr>
              <a:t>(</a:t>
            </a:r>
            <a:r>
              <a:rPr lang="en-US" b="1" dirty="0" err="1">
                <a:solidFill>
                  <a:srgbClr val="00B050"/>
                </a:solidFill>
              </a:rPr>
              <a:t>Comparator.comparing</a:t>
            </a:r>
            <a:r>
              <a:rPr lang="en-US" b="1" dirty="0">
                <a:solidFill>
                  <a:srgbClr val="00B050"/>
                </a:solidFill>
              </a:rPr>
              <a:t>(Order::</a:t>
            </a:r>
            <a:r>
              <a:rPr lang="en-US" b="1" dirty="0" err="1">
                <a:solidFill>
                  <a:srgbClr val="00B050"/>
                </a:solidFill>
              </a:rPr>
              <a:t>getPrice</a:t>
            </a:r>
            <a:r>
              <a:rPr lang="en-US" b="1" dirty="0">
                <a:solidFill>
                  <a:srgbClr val="00B050"/>
                </a:solidFill>
              </a:rPr>
              <a:t>))));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69385-7099-468F-8538-B89445A7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83093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streams?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Streams is a technique to manipulate collections of data in a declarative way.</a:t>
            </a:r>
          </a:p>
          <a:p>
            <a:r>
              <a:rPr lang="en-US" dirty="0"/>
              <a:t>Streams can process your collection data in parallel, without you to write any multithreaded code.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75437"/>
            <a:ext cx="5193276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28BC2-3ECA-4B61-97E7-4E36487B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496712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 vs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Collections follow supplier-driven approach where as streams follow producer-consumer approach i.e. collection is eagerly constructed &amp; streams is lazily constructed.</a:t>
            </a:r>
          </a:p>
          <a:p>
            <a:r>
              <a:rPr lang="en-US" dirty="0"/>
              <a:t>Streams are traversable only once; whereas we can travel into a collection many times.</a:t>
            </a:r>
          </a:p>
          <a:p>
            <a:pPr marL="205740" lvl="1" indent="0">
              <a:buNone/>
            </a:pPr>
            <a:r>
              <a:rPr lang="en-US" dirty="0"/>
              <a:t>Stream&lt;String&gt; stream = </a:t>
            </a:r>
            <a:r>
              <a:rPr lang="en-US" dirty="0" err="1"/>
              <a:t>bookNameList.stream</a:t>
            </a:r>
            <a:r>
              <a:rPr lang="en-US" dirty="0"/>
              <a:t>();</a:t>
            </a:r>
          </a:p>
          <a:p>
            <a:pPr marL="205740" lvl="1" indent="0">
              <a:buNone/>
            </a:pPr>
            <a:r>
              <a:rPr lang="en-US" dirty="0" err="1"/>
              <a:t>stream.forEach</a:t>
            </a:r>
            <a:r>
              <a:rPr lang="en-US" dirty="0"/>
              <a:t>(</a:t>
            </a:r>
            <a:r>
              <a:rPr lang="en-US" dirty="0" err="1"/>
              <a:t>System.out</a:t>
            </a:r>
            <a:r>
              <a:rPr lang="en-US" dirty="0"/>
              <a:t>::</a:t>
            </a:r>
            <a:r>
              <a:rPr lang="en-US" dirty="0" err="1"/>
              <a:t>println</a:t>
            </a:r>
            <a:r>
              <a:rPr lang="en-US" dirty="0"/>
              <a:t>);</a:t>
            </a:r>
          </a:p>
          <a:p>
            <a:pPr marL="205740" lvl="1" indent="0">
              <a:buNone/>
            </a:pPr>
            <a:r>
              <a:rPr lang="en-US" dirty="0" err="1"/>
              <a:t>stream.forEach</a:t>
            </a:r>
            <a:r>
              <a:rPr lang="en-US" dirty="0"/>
              <a:t>(</a:t>
            </a:r>
            <a:r>
              <a:rPr lang="en-US" dirty="0" err="1"/>
              <a:t>System.out</a:t>
            </a:r>
            <a:r>
              <a:rPr lang="en-US" dirty="0"/>
              <a:t>::</a:t>
            </a:r>
            <a:r>
              <a:rPr lang="en-US" dirty="0" err="1"/>
              <a:t>println</a:t>
            </a:r>
            <a:r>
              <a:rPr lang="en-US" dirty="0"/>
              <a:t>); </a:t>
            </a:r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FF0000"/>
                </a:solidFill>
              </a:rPr>
              <a:t>IllegalStateException</a:t>
            </a:r>
            <a:endParaRPr lang="en-US" dirty="0">
              <a:solidFill>
                <a:srgbClr val="FF0000"/>
              </a:solidFill>
            </a:endParaRPr>
          </a:p>
          <a:p>
            <a:pPr marL="20574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Stream can be consumed only once.</a:t>
            </a:r>
          </a:p>
          <a:p>
            <a:r>
              <a:rPr lang="en-US" dirty="0"/>
              <a:t>In collection, user writes program to iterate over data. However, in streams iteration happens internally.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00B050"/>
                </a:solidFill>
              </a:rPr>
              <a:t>List&lt;String&gt; </a:t>
            </a:r>
            <a:r>
              <a:rPr lang="en-US" dirty="0" err="1">
                <a:solidFill>
                  <a:srgbClr val="00B050"/>
                </a:solidFill>
              </a:rPr>
              <a:t>bookNameList</a:t>
            </a:r>
            <a:r>
              <a:rPr lang="en-US" dirty="0">
                <a:solidFill>
                  <a:srgbClr val="00B050"/>
                </a:solidFill>
              </a:rPr>
              <a:t> = </a:t>
            </a:r>
            <a:r>
              <a:rPr lang="en-US" dirty="0" err="1">
                <a:solidFill>
                  <a:srgbClr val="00B050"/>
                </a:solidFill>
              </a:rPr>
              <a:t>books.stream</a:t>
            </a:r>
            <a:r>
              <a:rPr lang="en-US" dirty="0">
                <a:solidFill>
                  <a:srgbClr val="00B050"/>
                </a:solidFill>
              </a:rPr>
              <a:t>().map(Book::</a:t>
            </a:r>
            <a:r>
              <a:rPr lang="en-US" dirty="0" err="1">
                <a:solidFill>
                  <a:srgbClr val="00B050"/>
                </a:solidFill>
              </a:rPr>
              <a:t>getName</a:t>
            </a:r>
            <a:r>
              <a:rPr lang="en-US" dirty="0">
                <a:solidFill>
                  <a:srgbClr val="00B050"/>
                </a:solidFill>
              </a:rPr>
              <a:t>).collect(</a:t>
            </a:r>
            <a:r>
              <a:rPr lang="en-US" dirty="0" err="1">
                <a:solidFill>
                  <a:srgbClr val="00B050"/>
                </a:solidFill>
              </a:rPr>
              <a:t>toList</a:t>
            </a:r>
            <a:r>
              <a:rPr lang="en-US" dirty="0">
                <a:solidFill>
                  <a:srgbClr val="00B050"/>
                </a:solidFill>
              </a:rPr>
              <a:t>());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FA03F-84CA-439A-9B45-E2B69E55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0215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Java 8 stream API defines a core interface called </a:t>
            </a:r>
            <a:r>
              <a:rPr lang="en-US" dirty="0" err="1"/>
              <a:t>java.util.stream.Stream</a:t>
            </a:r>
            <a:r>
              <a:rPr lang="en-US" dirty="0"/>
              <a:t>. This interface have several operations which can be divided into two types:</a:t>
            </a:r>
          </a:p>
          <a:p>
            <a:pPr lvl="1"/>
            <a:r>
              <a:rPr lang="en-US" dirty="0"/>
              <a:t>Intermediate operation: This operation that can be connected to another operation for example: filter(), map(), limit(), sorted(), distinct() etc.</a:t>
            </a:r>
          </a:p>
          <a:p>
            <a:pPr lvl="1"/>
            <a:r>
              <a:rPr lang="en-US" dirty="0"/>
              <a:t>Terminal operation: This operation closes the stream, for example: collect(), count(), </a:t>
            </a:r>
            <a:r>
              <a:rPr lang="en-US" dirty="0" err="1"/>
              <a:t>forEach</a:t>
            </a:r>
            <a:r>
              <a:rPr lang="en-US" dirty="0"/>
              <a:t>() etc.</a:t>
            </a:r>
          </a:p>
          <a:p>
            <a:r>
              <a:rPr lang="en-US" dirty="0" err="1"/>
              <a:t>java.util.Collection</a:t>
            </a:r>
            <a:r>
              <a:rPr lang="en-US" dirty="0"/>
              <a:t> interface defines two default methods stream() &amp; </a:t>
            </a:r>
            <a:r>
              <a:rPr lang="en-US" dirty="0" err="1"/>
              <a:t>parallelStream</a:t>
            </a:r>
            <a:r>
              <a:rPr lang="en-US" dirty="0"/>
              <a:t>() those return Stream object. It means that any collection class that implements Collection interface, can be streamed using these two methods.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F05F7-6CB2-4BF7-BD88-7B00FFBC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318614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filter(Predicate p)</a:t>
            </a:r>
          </a:p>
          <a:p>
            <a:r>
              <a:rPr lang="en-US" dirty="0"/>
              <a:t>distinct()</a:t>
            </a:r>
          </a:p>
          <a:p>
            <a:r>
              <a:rPr lang="en-US" dirty="0"/>
              <a:t>limit(long </a:t>
            </a:r>
            <a:r>
              <a:rPr lang="en-US" dirty="0" err="1"/>
              <a:t>maxSize</a:t>
            </a:r>
            <a:r>
              <a:rPr lang="en-US" dirty="0"/>
              <a:t>)</a:t>
            </a:r>
          </a:p>
          <a:p>
            <a:r>
              <a:rPr lang="en-US" dirty="0"/>
              <a:t>skip(long n)</a:t>
            </a:r>
          </a:p>
          <a:p>
            <a:r>
              <a:rPr lang="en-US" dirty="0"/>
              <a:t>map(Function mapper)</a:t>
            </a:r>
          </a:p>
          <a:p>
            <a:r>
              <a:rPr lang="en-US" dirty="0" err="1"/>
              <a:t>flatMap</a:t>
            </a:r>
            <a:r>
              <a:rPr lang="en-US" dirty="0"/>
              <a:t>(Function Mapper)</a:t>
            </a:r>
          </a:p>
          <a:p>
            <a:r>
              <a:rPr lang="en-US" dirty="0" err="1"/>
              <a:t>allMatch</a:t>
            </a:r>
            <a:r>
              <a:rPr lang="en-US" dirty="0"/>
              <a:t>(Predicate p)</a:t>
            </a:r>
          </a:p>
          <a:p>
            <a:r>
              <a:rPr lang="en-US" dirty="0" err="1"/>
              <a:t>anyMatch</a:t>
            </a:r>
            <a:r>
              <a:rPr lang="en-US" dirty="0"/>
              <a:t>(Predicate p)</a:t>
            </a:r>
          </a:p>
          <a:p>
            <a:r>
              <a:rPr lang="en-US" dirty="0" err="1"/>
              <a:t>noneMatch</a:t>
            </a:r>
            <a:r>
              <a:rPr lang="en-US" dirty="0"/>
              <a:t>(Predicate p)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62710-921F-48D2-8902-50013991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974301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operations…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findAny</a:t>
            </a:r>
            <a:r>
              <a:rPr lang="en-US" dirty="0"/>
              <a:t>()</a:t>
            </a:r>
          </a:p>
          <a:p>
            <a:r>
              <a:rPr lang="en-US" dirty="0" err="1"/>
              <a:t>findFirst</a:t>
            </a:r>
            <a:r>
              <a:rPr lang="en-US" dirty="0"/>
              <a:t>()</a:t>
            </a:r>
          </a:p>
          <a:p>
            <a:r>
              <a:rPr lang="en-US" dirty="0"/>
              <a:t>sorted(Comparator c)</a:t>
            </a:r>
          </a:p>
          <a:p>
            <a:r>
              <a:rPr lang="en-US" dirty="0"/>
              <a:t>reduce()</a:t>
            </a:r>
          </a:p>
          <a:p>
            <a:r>
              <a:rPr lang="en-US" dirty="0" err="1"/>
              <a:t>forEach</a:t>
            </a:r>
            <a:r>
              <a:rPr lang="en-US" dirty="0"/>
              <a:t>(Consumer c)</a:t>
            </a:r>
          </a:p>
          <a:p>
            <a:r>
              <a:rPr lang="en-US" dirty="0"/>
              <a:t>collect(Collector c)</a:t>
            </a:r>
          </a:p>
          <a:p>
            <a:r>
              <a:rPr lang="en-US" dirty="0"/>
              <a:t>count()</a:t>
            </a:r>
          </a:p>
          <a:p>
            <a:r>
              <a:rPr lang="en-US" dirty="0"/>
              <a:t>iterate()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F2D15-1C64-4F54-93D0-B348D69C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011867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filter(Predicate 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filter() operation takes as argument a predicate (a function returning a </a:t>
            </a:r>
            <a:r>
              <a:rPr lang="en-US" dirty="0" err="1"/>
              <a:t>boolean</a:t>
            </a:r>
            <a:r>
              <a:rPr lang="en-US" dirty="0"/>
              <a:t>) and returns a stream including all elements that match the predicate. For example:</a:t>
            </a:r>
          </a:p>
          <a:p>
            <a:pPr marL="0" indent="0">
              <a:buNone/>
            </a:pPr>
            <a:r>
              <a:rPr lang="en-US" dirty="0"/>
              <a:t>Find all failed transactions-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List&lt;Transaction&gt; </a:t>
            </a:r>
            <a:r>
              <a:rPr lang="en-US" dirty="0" err="1"/>
              <a:t>failedTransactions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.filter(Transaction::</a:t>
            </a:r>
            <a:r>
              <a:rPr lang="en-US" dirty="0" err="1">
                <a:solidFill>
                  <a:srgbClr val="FF0000"/>
                </a:solidFill>
              </a:rPr>
              <a:t>isFailed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.collect(</a:t>
            </a:r>
            <a:r>
              <a:rPr lang="en-US" dirty="0" err="1"/>
              <a:t>Collectors.toList</a:t>
            </a:r>
            <a:r>
              <a:rPr lang="en-US" dirty="0"/>
              <a:t>());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A9BDD-40F0-407B-81EF-8CD6D387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63629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distinct() operation returns a stream with unique elements (according to the implementation of equals() method of the objects produced by the stream).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List&lt;Transaction&gt; </a:t>
            </a:r>
            <a:r>
              <a:rPr lang="en-US" dirty="0" err="1"/>
              <a:t>failedTransactions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.filter(Transaction::</a:t>
            </a:r>
            <a:r>
              <a:rPr lang="en-US" dirty="0" err="1"/>
              <a:t>isFailed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.distinct()</a:t>
            </a:r>
          </a:p>
          <a:p>
            <a:pPr marL="0" indent="0">
              <a:buNone/>
            </a:pPr>
            <a:r>
              <a:rPr lang="en-US" dirty="0"/>
              <a:t>.collect(</a:t>
            </a:r>
            <a:r>
              <a:rPr lang="en-US" dirty="0" err="1"/>
              <a:t>Collectors.toList</a:t>
            </a:r>
            <a:r>
              <a:rPr lang="en-US" dirty="0"/>
              <a:t>());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CB590-746E-4B8D-96E4-9B1B1F7B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892730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limit(long </a:t>
            </a:r>
            <a:r>
              <a:rPr lang="en-US" dirty="0" err="1"/>
              <a:t>maxSize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limit() operation returns another stream that is not longer than </a:t>
            </a:r>
            <a:r>
              <a:rPr lang="en-US" dirty="0" err="1"/>
              <a:t>maxsize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List&lt;Transaction&gt; </a:t>
            </a:r>
            <a:r>
              <a:rPr lang="en-US" dirty="0" err="1"/>
              <a:t>failedTransactions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.filter(Transaction::</a:t>
            </a:r>
            <a:r>
              <a:rPr lang="en-US" dirty="0" err="1"/>
              <a:t>isFailed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.limit(5)</a:t>
            </a:r>
          </a:p>
          <a:p>
            <a:pPr marL="0" indent="0">
              <a:buNone/>
            </a:pPr>
            <a:r>
              <a:rPr lang="en-US" dirty="0"/>
              <a:t>.collect(</a:t>
            </a:r>
            <a:r>
              <a:rPr lang="en-US" dirty="0" err="1"/>
              <a:t>Collectors.toList</a:t>
            </a:r>
            <a:r>
              <a:rPr lang="en-US" dirty="0"/>
              <a:t>());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80B1F-23C3-4FF0-8489-5E3532FE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5092373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skip(long 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skip() operation returns a stream that discards the first n elements.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List&lt;Transaction&gt; </a:t>
            </a:r>
            <a:r>
              <a:rPr lang="en-US" dirty="0" err="1"/>
              <a:t>failedTransactions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.filter(Transaction::</a:t>
            </a:r>
            <a:r>
              <a:rPr lang="en-US" dirty="0" err="1"/>
              <a:t>isFailed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.skip(5)</a:t>
            </a:r>
          </a:p>
          <a:p>
            <a:pPr marL="0" indent="0">
              <a:buNone/>
            </a:pPr>
            <a:r>
              <a:rPr lang="en-US" dirty="0"/>
              <a:t>.collect(</a:t>
            </a:r>
            <a:r>
              <a:rPr lang="en-US" dirty="0" err="1"/>
              <a:t>Collectors.toList</a:t>
            </a:r>
            <a:r>
              <a:rPr lang="en-US" dirty="0"/>
              <a:t>());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AA101-BB5D-4573-BA3E-5FFA23DC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4519579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map(Function mapper)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map() operation allows us to select specific information from objects. For example, in SQL you can select a particular column from a table.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List&lt;String&gt; </a:t>
            </a:r>
            <a:r>
              <a:rPr lang="en-US" dirty="0" err="1"/>
              <a:t>transactionIdList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.map(Transaction::</a:t>
            </a:r>
            <a:r>
              <a:rPr lang="en-US" dirty="0" err="1">
                <a:solidFill>
                  <a:srgbClr val="FF0000"/>
                </a:solidFill>
              </a:rPr>
              <a:t>getId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.collect(</a:t>
            </a:r>
            <a:r>
              <a:rPr lang="en-US" dirty="0" err="1"/>
              <a:t>Collectors.toList</a:t>
            </a:r>
            <a:r>
              <a:rPr lang="en-US" dirty="0"/>
              <a:t>());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43D3F-0A52-49AB-8D21-A5FB6492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08074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flatMap</a:t>
            </a:r>
            <a:r>
              <a:rPr lang="en-US" dirty="0"/>
              <a:t>(Function Mapper)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flatMap</a:t>
            </a:r>
            <a:r>
              <a:rPr lang="en-US" dirty="0"/>
              <a:t>() operation is a combination of a map &amp; a flat operation. This means you first apply map function and than flattens the result.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/>
              <a:t>Stream&lt;List&lt;Integer&gt;&gt; stream = </a:t>
            </a:r>
            <a:r>
              <a:rPr lang="en-US" dirty="0" err="1"/>
              <a:t>Stream.of</a:t>
            </a:r>
            <a:r>
              <a:rPr lang="en-US" dirty="0"/>
              <a:t>(</a:t>
            </a:r>
            <a:r>
              <a:rPr lang="en-US" dirty="0" err="1"/>
              <a:t>Arrays.asList</a:t>
            </a:r>
            <a:r>
              <a:rPr lang="en-US" dirty="0"/>
              <a:t>(1, 2, 3), </a:t>
            </a:r>
            <a:r>
              <a:rPr lang="en-US" dirty="0" err="1"/>
              <a:t>Arrays.asList</a:t>
            </a:r>
            <a:r>
              <a:rPr lang="en-US" dirty="0"/>
              <a:t>(1, 12, 30), </a:t>
            </a:r>
            <a:r>
              <a:rPr lang="en-US" dirty="0" err="1"/>
              <a:t>Arrays.asList</a:t>
            </a:r>
            <a:r>
              <a:rPr lang="en-US" dirty="0"/>
              <a:t>(11, 2, 13));</a:t>
            </a:r>
          </a:p>
          <a:p>
            <a:pPr marL="205740" lvl="1" indent="0">
              <a:buNone/>
            </a:pPr>
            <a:r>
              <a:rPr lang="en-US" dirty="0"/>
              <a:t>List&lt;Integer&gt; </a:t>
            </a:r>
            <a:r>
              <a:rPr lang="en-US" dirty="0" err="1"/>
              <a:t>flatIntList</a:t>
            </a:r>
            <a:r>
              <a:rPr lang="en-US" dirty="0"/>
              <a:t> = </a:t>
            </a:r>
          </a:p>
          <a:p>
            <a:pPr marL="205740" lvl="1" indent="0">
              <a:buNone/>
            </a:pPr>
            <a:r>
              <a:rPr lang="en-US" dirty="0" err="1"/>
              <a:t>stream.</a:t>
            </a:r>
            <a:r>
              <a:rPr lang="en-US" dirty="0" err="1">
                <a:solidFill>
                  <a:srgbClr val="FF0000"/>
                </a:solidFill>
              </a:rPr>
              <a:t>flatMap</a:t>
            </a:r>
            <a:r>
              <a:rPr lang="en-US" dirty="0">
                <a:solidFill>
                  <a:srgbClr val="FF0000"/>
                </a:solidFill>
              </a:rPr>
              <a:t>(List::stream)</a:t>
            </a:r>
          </a:p>
          <a:p>
            <a:pPr marL="205740" lvl="1" indent="0">
              <a:buNone/>
            </a:pPr>
            <a:r>
              <a:rPr lang="en-US" dirty="0"/>
              <a:t>.collect(</a:t>
            </a:r>
            <a:r>
              <a:rPr lang="en-US" dirty="0" err="1"/>
              <a:t>Collectors.toList</a:t>
            </a:r>
            <a:r>
              <a:rPr lang="en-US" dirty="0"/>
              <a:t>());  </a:t>
            </a:r>
            <a:r>
              <a:rPr lang="en-US" dirty="0">
                <a:solidFill>
                  <a:srgbClr val="FF0000"/>
                </a:solidFill>
              </a:rPr>
              <a:t>// 1, 2, 3, 1, 12, 30, 11, 2, 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F73B-DB0C-4B2D-829D-6EE46C16F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72381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allMatch</a:t>
            </a:r>
            <a:r>
              <a:rPr lang="en-US" dirty="0"/>
              <a:t>(Predicate 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allMatch</a:t>
            </a:r>
            <a:r>
              <a:rPr lang="en-US" dirty="0"/>
              <a:t>() operation checks whether all the elements of the stream match the given predicate.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isHot</a:t>
            </a:r>
            <a:r>
              <a:rPr lang="en-US" dirty="0"/>
              <a:t> = </a:t>
            </a:r>
            <a:r>
              <a:rPr lang="en-US" dirty="0" err="1"/>
              <a:t>temteratures.stream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allMatch</a:t>
            </a:r>
            <a:r>
              <a:rPr lang="en-US" dirty="0">
                <a:solidFill>
                  <a:srgbClr val="FF0000"/>
                </a:solidFill>
              </a:rPr>
              <a:t>(t -&gt; </a:t>
            </a:r>
            <a:r>
              <a:rPr lang="en-US" dirty="0" err="1">
                <a:solidFill>
                  <a:srgbClr val="FF0000"/>
                </a:solidFill>
              </a:rPr>
              <a:t>t.getTemperature</a:t>
            </a:r>
            <a:r>
              <a:rPr lang="en-US" dirty="0">
                <a:solidFill>
                  <a:srgbClr val="FF0000"/>
                </a:solidFill>
              </a:rPr>
              <a:t>() &gt; 40);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837B8-0F3C-42B4-B933-B4DADF71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4138918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anyMatch</a:t>
            </a:r>
            <a:r>
              <a:rPr lang="en-US" dirty="0"/>
              <a:t>(Predicate 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anyMatch</a:t>
            </a:r>
            <a:r>
              <a:rPr lang="en-US" dirty="0"/>
              <a:t>() operation checks at least one element of the stream match the given predicate.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isHot</a:t>
            </a:r>
            <a:r>
              <a:rPr lang="en-US" dirty="0"/>
              <a:t> = </a:t>
            </a:r>
            <a:r>
              <a:rPr lang="en-US" dirty="0" err="1"/>
              <a:t>temteratures.stream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anyMatch</a:t>
            </a:r>
            <a:r>
              <a:rPr lang="en-US" dirty="0">
                <a:solidFill>
                  <a:srgbClr val="FF0000"/>
                </a:solidFill>
              </a:rPr>
              <a:t>(t -&gt; </a:t>
            </a:r>
            <a:r>
              <a:rPr lang="en-US" dirty="0" err="1">
                <a:solidFill>
                  <a:srgbClr val="FF0000"/>
                </a:solidFill>
              </a:rPr>
              <a:t>t.getTemperature</a:t>
            </a:r>
            <a:r>
              <a:rPr lang="en-US" dirty="0">
                <a:solidFill>
                  <a:srgbClr val="FF0000"/>
                </a:solidFill>
              </a:rPr>
              <a:t>() &gt; 40);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2BEB8-53DC-4195-A46B-70E454AE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015084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noneMatch</a:t>
            </a:r>
            <a:r>
              <a:rPr lang="en-US" dirty="0"/>
              <a:t>(Predicate 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noneMatch</a:t>
            </a:r>
            <a:r>
              <a:rPr lang="en-US" dirty="0"/>
              <a:t>() is opposite to </a:t>
            </a:r>
            <a:r>
              <a:rPr lang="en-US" dirty="0" err="1"/>
              <a:t>allMatch</a:t>
            </a:r>
            <a:r>
              <a:rPr lang="en-US" dirty="0"/>
              <a:t>() operation. The </a:t>
            </a:r>
            <a:r>
              <a:rPr lang="en-US" dirty="0" err="1"/>
              <a:t>noneMatch</a:t>
            </a:r>
            <a:r>
              <a:rPr lang="en-US" dirty="0"/>
              <a:t>() checks whether no element in the stream match the given predicate.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isHot</a:t>
            </a:r>
            <a:r>
              <a:rPr lang="en-US" dirty="0"/>
              <a:t> = </a:t>
            </a:r>
            <a:r>
              <a:rPr lang="en-US" dirty="0" err="1"/>
              <a:t>temteratures.stream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noneMatch</a:t>
            </a:r>
            <a:r>
              <a:rPr lang="en-US" dirty="0">
                <a:solidFill>
                  <a:srgbClr val="FF0000"/>
                </a:solidFill>
              </a:rPr>
              <a:t>(t -&gt; </a:t>
            </a:r>
            <a:r>
              <a:rPr lang="en-US" dirty="0" err="1">
                <a:solidFill>
                  <a:srgbClr val="FF0000"/>
                </a:solidFill>
              </a:rPr>
              <a:t>t.getTemperature</a:t>
            </a:r>
            <a:r>
              <a:rPr lang="en-US" dirty="0">
                <a:solidFill>
                  <a:srgbClr val="FF0000"/>
                </a:solidFill>
              </a:rPr>
              <a:t>() &gt; 40);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6694E-04CB-4318-9619-0A6ABA17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7659961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findAny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findAny</a:t>
            </a:r>
            <a:r>
              <a:rPr lang="en-US" dirty="0"/>
              <a:t>() method returns an arbitrary element of the current stream.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/>
              <a:t>Optional&lt;Transaction&gt; </a:t>
            </a:r>
            <a:r>
              <a:rPr lang="en-US" dirty="0" err="1"/>
              <a:t>opTransaction</a:t>
            </a:r>
            <a:r>
              <a:rPr lang="en-US" dirty="0"/>
              <a:t> =</a:t>
            </a:r>
          </a:p>
          <a:p>
            <a:pPr marL="205740" lvl="1" indent="0">
              <a:buNone/>
            </a:pP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.filter(t -&gt; </a:t>
            </a:r>
            <a:r>
              <a:rPr lang="en-US" dirty="0" err="1"/>
              <a:t>t.getPrice</a:t>
            </a:r>
            <a:r>
              <a:rPr lang="en-US" dirty="0"/>
              <a:t>() &gt; 10000)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findAny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E15E0-21C0-4992-86A7-AF476982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94178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findFirst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findFirst</a:t>
            </a:r>
            <a:r>
              <a:rPr lang="en-US" dirty="0"/>
              <a:t>() operation is similar to </a:t>
            </a:r>
            <a:r>
              <a:rPr lang="en-US" dirty="0" err="1"/>
              <a:t>findAny</a:t>
            </a:r>
            <a:r>
              <a:rPr lang="en-US" dirty="0"/>
              <a:t>() method. It always returns the first element of the current stream.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/>
              <a:t>Optional&lt;Transaction&gt; </a:t>
            </a:r>
            <a:r>
              <a:rPr lang="en-US" dirty="0" err="1"/>
              <a:t>opTransaction</a:t>
            </a:r>
            <a:r>
              <a:rPr lang="en-US" dirty="0"/>
              <a:t> =</a:t>
            </a:r>
          </a:p>
          <a:p>
            <a:pPr marL="205740" lvl="1" indent="0">
              <a:buNone/>
            </a:pP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.filter(t -&gt; </a:t>
            </a:r>
            <a:r>
              <a:rPr lang="en-US" dirty="0" err="1"/>
              <a:t>t.getPrice</a:t>
            </a:r>
            <a:r>
              <a:rPr lang="en-US" dirty="0"/>
              <a:t>() &gt; 10000)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findFirst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CDDDC-984A-40B8-9330-6305D31CB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18358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sorted(Comparator 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sorted() operation sorts your stream in ascending order. For example: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/>
              <a:t>List&lt;Order&gt; </a:t>
            </a:r>
            <a:r>
              <a:rPr lang="en-US" dirty="0" err="1"/>
              <a:t>matchingOrders</a:t>
            </a:r>
            <a:r>
              <a:rPr lang="en-US" dirty="0"/>
              <a:t> = </a:t>
            </a:r>
          </a:p>
          <a:p>
            <a:pPr marL="205740" lvl="1" indent="0">
              <a:buNone/>
            </a:pPr>
            <a:r>
              <a:rPr lang="en-US" dirty="0" err="1"/>
              <a:t>orders.stream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.filter(order -&gt; </a:t>
            </a:r>
            <a:r>
              <a:rPr lang="en-US" dirty="0" err="1"/>
              <a:t>order.getPrice</a:t>
            </a:r>
            <a:r>
              <a:rPr lang="en-US" dirty="0"/>
              <a:t>() &lt; 200)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.sorted(</a:t>
            </a:r>
            <a:r>
              <a:rPr lang="en-US" dirty="0" err="1">
                <a:solidFill>
                  <a:srgbClr val="FF0000"/>
                </a:solidFill>
              </a:rPr>
              <a:t>Comparator.</a:t>
            </a:r>
            <a:r>
              <a:rPr lang="en-US" i="1" dirty="0" err="1">
                <a:solidFill>
                  <a:srgbClr val="FF0000"/>
                </a:solidFill>
              </a:rPr>
              <a:t>comparing</a:t>
            </a:r>
            <a:r>
              <a:rPr lang="en-US" i="1" dirty="0">
                <a:solidFill>
                  <a:srgbClr val="FF0000"/>
                </a:solidFill>
              </a:rPr>
              <a:t>(Order::</a:t>
            </a:r>
            <a:r>
              <a:rPr lang="en-US" i="1" dirty="0" err="1">
                <a:solidFill>
                  <a:srgbClr val="FF0000"/>
                </a:solidFill>
              </a:rPr>
              <a:t>getPrice</a:t>
            </a:r>
            <a:r>
              <a:rPr lang="en-US" i="1" dirty="0">
                <a:solidFill>
                  <a:srgbClr val="FF0000"/>
                </a:solidFill>
              </a:rPr>
              <a:t>))</a:t>
            </a:r>
          </a:p>
          <a:p>
            <a:pPr marL="205740" lvl="1" indent="0">
              <a:buNone/>
            </a:pPr>
            <a:r>
              <a:rPr lang="en-US" i="1" dirty="0"/>
              <a:t>.collect(</a:t>
            </a:r>
            <a:r>
              <a:rPr lang="en-US" i="1" dirty="0" err="1"/>
              <a:t>Collectors.toList</a:t>
            </a:r>
            <a:r>
              <a:rPr lang="en-US" i="1" dirty="0"/>
              <a:t>());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79C3E-35C5-4E3C-85C5-2295B6ED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33327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use aggregate methods like SUM(), MAX(), MIN() etc. in SQL. The similar aggregation is possible using reduce() operation. Thus, reduce() operation combines elements of a stream to express more complicated queries. For example:</a:t>
            </a:r>
          </a:p>
          <a:p>
            <a:pPr marL="205740" lvl="1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sumOfAllNumbers</a:t>
            </a:r>
            <a:r>
              <a:rPr lang="en-US" dirty="0"/>
              <a:t> = </a:t>
            </a:r>
            <a:r>
              <a:rPr lang="en-US" dirty="0" err="1"/>
              <a:t>numbers.stream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.reduce(0, Integer::sum); </a:t>
            </a:r>
            <a:r>
              <a:rPr lang="en-US" dirty="0">
                <a:solidFill>
                  <a:schemeClr val="tx1"/>
                </a:solidFill>
              </a:rPr>
              <a:t>// where ‘0’ is an initial value of </a:t>
            </a:r>
            <a:r>
              <a:rPr lang="en-US" dirty="0" err="1">
                <a:solidFill>
                  <a:schemeClr val="tx1"/>
                </a:solidFill>
              </a:rPr>
              <a:t>sumOfAllNumbers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05740" lvl="1" indent="0">
              <a:buNone/>
            </a:pPr>
            <a:r>
              <a:rPr lang="en-US" dirty="0"/>
              <a:t>Optional&lt;Integer&gt; </a:t>
            </a:r>
            <a:r>
              <a:rPr lang="en-US" dirty="0" err="1"/>
              <a:t>maxNumber</a:t>
            </a:r>
            <a:r>
              <a:rPr lang="en-US" dirty="0"/>
              <a:t> = </a:t>
            </a:r>
            <a:r>
              <a:rPr lang="en-US" dirty="0" err="1"/>
              <a:t>numbers.stream</a:t>
            </a:r>
            <a:r>
              <a:rPr lang="en-US" dirty="0"/>
              <a:t>()</a:t>
            </a:r>
            <a:r>
              <a:rPr lang="en-US" dirty="0">
                <a:solidFill>
                  <a:srgbClr val="FF0000"/>
                </a:solidFill>
              </a:rPr>
              <a:t>.reduce(Integer::max);</a:t>
            </a:r>
          </a:p>
          <a:p>
            <a:pPr marL="205740" lvl="1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205740" lvl="1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94798-3818-41BD-9A0D-D15AC3DB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88462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(Consumer 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forEach</a:t>
            </a:r>
            <a:r>
              <a:rPr lang="en-US" dirty="0"/>
              <a:t>() is a terminal operation that returns void and applies a lambda to each element of the stream.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 err="1"/>
              <a:t>transactions.stream</a:t>
            </a:r>
            <a:r>
              <a:rPr lang="en-US" dirty="0"/>
              <a:t>()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forEach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System.out</a:t>
            </a:r>
            <a:r>
              <a:rPr lang="en-US" dirty="0">
                <a:solidFill>
                  <a:srgbClr val="FF0000"/>
                </a:solidFill>
              </a:rPr>
              <a:t>::</a:t>
            </a:r>
            <a:r>
              <a:rPr lang="en-US" dirty="0" err="1">
                <a:solidFill>
                  <a:srgbClr val="FF0000"/>
                </a:solidFill>
              </a:rPr>
              <a:t>println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/>
              <a:t>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787C3-3B84-44D2-8085-FCB5219B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404196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collect(Collector 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collector() is a terminal operation &amp; it converts a stream into another form like List, Map etc. We passed Collector instance as operation parameter. The Collector instance can be obtained using different static methods from Collectors class. For example:</a:t>
            </a:r>
          </a:p>
          <a:p>
            <a:pPr marL="205740" lvl="1" indent="0">
              <a:buNone/>
            </a:pPr>
            <a:r>
              <a:rPr lang="en-US" dirty="0"/>
              <a:t>List&lt;Order&gt; </a:t>
            </a:r>
            <a:r>
              <a:rPr lang="en-US" dirty="0" err="1"/>
              <a:t>myOrders</a:t>
            </a:r>
            <a:r>
              <a:rPr lang="en-US" dirty="0"/>
              <a:t> = </a:t>
            </a:r>
            <a:r>
              <a:rPr lang="en-US" dirty="0" err="1"/>
              <a:t>orders.stream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.filter(order -&gt; </a:t>
            </a:r>
            <a:r>
              <a:rPr lang="en-US" dirty="0" err="1"/>
              <a:t>order.getPrice</a:t>
            </a:r>
            <a:r>
              <a:rPr lang="en-US" dirty="0"/>
              <a:t>() &lt; 200)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.collect(</a:t>
            </a:r>
            <a:r>
              <a:rPr lang="en-US" dirty="0" err="1">
                <a:solidFill>
                  <a:srgbClr val="FF0000"/>
                </a:solidFill>
              </a:rPr>
              <a:t>Collectors.toList</a:t>
            </a:r>
            <a:r>
              <a:rPr lang="en-US" dirty="0">
                <a:solidFill>
                  <a:srgbClr val="FF0000"/>
                </a:solidFill>
              </a:rPr>
              <a:t>());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6FB43-79FB-41FF-83D8-896A05D4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9987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count() operation counts total number of elements in a stream.</a:t>
            </a:r>
          </a:p>
          <a:p>
            <a:pPr marL="0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/>
              <a:t>long </a:t>
            </a:r>
            <a:r>
              <a:rPr lang="en-US" dirty="0" err="1"/>
              <a:t>lowPriceOrderCount</a:t>
            </a:r>
            <a:r>
              <a:rPr lang="en-US" dirty="0"/>
              <a:t> = </a:t>
            </a:r>
          </a:p>
          <a:p>
            <a:pPr marL="205740" lvl="1" indent="0">
              <a:buNone/>
            </a:pPr>
            <a:r>
              <a:rPr lang="en-US" dirty="0" err="1"/>
              <a:t>orders.stream</a:t>
            </a:r>
            <a:r>
              <a:rPr lang="en-US" dirty="0"/>
              <a:t>().filter(order -&gt; </a:t>
            </a:r>
            <a:r>
              <a:rPr lang="en-US" dirty="0" err="1"/>
              <a:t>order.getPrice</a:t>
            </a:r>
            <a:r>
              <a:rPr lang="en-US" dirty="0"/>
              <a:t>() &lt; 200)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.count();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18843-6D09-49A1-901C-04458B09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87195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iterate() operation is used to iterate over the loop &amp; perform some business logic in every iteration. It takes 2 arguments, an initial value and a lambda (of type Unary-Operator&lt;T&gt;).</a:t>
            </a:r>
          </a:p>
          <a:p>
            <a:pPr marL="205740" lvl="1" indent="0">
              <a:buNone/>
            </a:pPr>
            <a:endParaRPr lang="en-US" dirty="0"/>
          </a:p>
          <a:p>
            <a:pPr marL="205740" lvl="1" indent="0">
              <a:buNone/>
            </a:pPr>
            <a:r>
              <a:rPr lang="en-US" dirty="0" err="1"/>
              <a:t>Stream.</a:t>
            </a:r>
            <a:r>
              <a:rPr lang="en-US" i="1" dirty="0" err="1">
                <a:solidFill>
                  <a:srgbClr val="FF0000"/>
                </a:solidFill>
              </a:rPr>
              <a:t>iterate</a:t>
            </a:r>
            <a:r>
              <a:rPr lang="en-US" i="1" dirty="0">
                <a:solidFill>
                  <a:srgbClr val="FF0000"/>
                </a:solidFill>
              </a:rPr>
              <a:t>(2, n -&gt; n * n)</a:t>
            </a:r>
          </a:p>
          <a:p>
            <a:pPr marL="205740" lvl="1" indent="0">
              <a:buNone/>
            </a:pPr>
            <a:r>
              <a:rPr lang="en-US" i="1" dirty="0"/>
              <a:t>.limit(5)</a:t>
            </a:r>
          </a:p>
          <a:p>
            <a:pPr marL="205740" lvl="1" indent="0">
              <a:buNone/>
            </a:pPr>
            <a:r>
              <a:rPr lang="en-US" i="1" dirty="0"/>
              <a:t>.</a:t>
            </a:r>
            <a:r>
              <a:rPr lang="en-US" i="1" dirty="0" err="1"/>
              <a:t>forEach</a:t>
            </a:r>
            <a:r>
              <a:rPr lang="en-US" i="1" dirty="0"/>
              <a:t>(</a:t>
            </a:r>
            <a:r>
              <a:rPr lang="en-US" i="1" dirty="0" err="1"/>
              <a:t>System.</a:t>
            </a:r>
            <a:r>
              <a:rPr lang="en-US" b="1" i="1" dirty="0" err="1"/>
              <a:t>out</a:t>
            </a:r>
            <a:r>
              <a:rPr lang="en-US" b="1" i="1" dirty="0"/>
              <a:t>::</a:t>
            </a:r>
            <a:r>
              <a:rPr lang="en-US" b="1" i="1" dirty="0" err="1"/>
              <a:t>println</a:t>
            </a:r>
            <a:r>
              <a:rPr lang="en-US" b="1" i="1" dirty="0"/>
              <a:t>); </a:t>
            </a:r>
            <a:r>
              <a:rPr lang="en-US" sz="1875" dirty="0">
                <a:solidFill>
                  <a:srgbClr val="FF0000"/>
                </a:solidFill>
              </a:rPr>
              <a:t>//2, 4, 16, 256, 65536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5F02A-14F1-4B8D-B4A1-385FD9E6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38017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we want to find out total price of all transactions.</a:t>
            </a:r>
          </a:p>
          <a:p>
            <a:pPr marL="205740" lvl="1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totalTransactionPrice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.map(Transaction::</a:t>
            </a:r>
            <a:r>
              <a:rPr lang="en-US" dirty="0" err="1"/>
              <a:t>getPrice</a:t>
            </a:r>
            <a:r>
              <a:rPr lang="en-US" dirty="0"/>
              <a:t>)</a:t>
            </a:r>
          </a:p>
          <a:p>
            <a:pPr marL="205740" lvl="1" indent="0">
              <a:buNone/>
            </a:pPr>
            <a:r>
              <a:rPr lang="en-US" dirty="0"/>
              <a:t>.reduce(0, Integer::sum);</a:t>
            </a:r>
          </a:p>
          <a:p>
            <a:pPr marL="0" indent="0">
              <a:buNone/>
            </a:pPr>
            <a:r>
              <a:rPr lang="en-US" dirty="0"/>
              <a:t>The above stream operations will work successfully. However, there is a overhead of boxing. Behind the scene each Integer needs to be unboxed to a primitive before performing summation. In order to improve the performance, we should use primitive based streams instead of generic streams.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508CE-0CE1-467C-9717-BFF8102D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4307764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Java 8 provides us 3 primitive based streams:</a:t>
            </a:r>
          </a:p>
          <a:p>
            <a:pPr lvl="1"/>
            <a:r>
              <a:rPr lang="en-US" dirty="0" err="1"/>
              <a:t>IntStream</a:t>
            </a:r>
            <a:endParaRPr lang="en-US" dirty="0"/>
          </a:p>
          <a:p>
            <a:pPr lvl="1"/>
            <a:r>
              <a:rPr lang="en-US" dirty="0" err="1"/>
              <a:t>DoubleStream</a:t>
            </a:r>
            <a:endParaRPr lang="en-US" dirty="0"/>
          </a:p>
          <a:p>
            <a:pPr lvl="1"/>
            <a:r>
              <a:rPr lang="en-US" dirty="0" err="1"/>
              <a:t>LongStream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Now, let us find out total price of all transactions using primitive streams.</a:t>
            </a:r>
          </a:p>
          <a:p>
            <a:pPr marL="205740" lvl="1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totalTransactionPrice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</a:t>
            </a:r>
            <a:r>
              <a:rPr lang="en-US" dirty="0" err="1">
                <a:solidFill>
                  <a:srgbClr val="FF0000"/>
                </a:solidFill>
              </a:rPr>
              <a:t>mapToInt</a:t>
            </a:r>
            <a:r>
              <a:rPr lang="en-US" dirty="0"/>
              <a:t>(Transaction::</a:t>
            </a:r>
            <a:r>
              <a:rPr lang="en-US" dirty="0" err="1"/>
              <a:t>getPrice</a:t>
            </a:r>
            <a:r>
              <a:rPr lang="en-US" dirty="0"/>
              <a:t>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.sum();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84AA9-6CD1-4DFE-9AC5-7156E086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35623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172200" cy="38862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Collectors are used to convert elements of a stream into custom formats like List, Map etc.</a:t>
            </a:r>
          </a:p>
          <a:p>
            <a:pPr marL="205740" lvl="1" indent="0">
              <a:buNone/>
            </a:pPr>
            <a:r>
              <a:rPr lang="en-US" dirty="0"/>
              <a:t>List&lt;Order&gt; </a:t>
            </a:r>
            <a:r>
              <a:rPr lang="en-US" dirty="0" err="1"/>
              <a:t>myOrders</a:t>
            </a:r>
            <a:r>
              <a:rPr lang="en-US" dirty="0"/>
              <a:t> = </a:t>
            </a:r>
            <a:r>
              <a:rPr lang="en-US" dirty="0" err="1"/>
              <a:t>orders.stream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.filter(order -&gt; </a:t>
            </a:r>
            <a:r>
              <a:rPr lang="en-US" dirty="0" err="1"/>
              <a:t>order.getPrice</a:t>
            </a:r>
            <a:r>
              <a:rPr lang="en-US" dirty="0"/>
              <a:t>() &lt; 200)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.collect(</a:t>
            </a:r>
            <a:r>
              <a:rPr lang="en-US" dirty="0" err="1">
                <a:solidFill>
                  <a:srgbClr val="FF0000"/>
                </a:solidFill>
              </a:rPr>
              <a:t>Collectors.toList</a:t>
            </a:r>
            <a:r>
              <a:rPr lang="en-US" dirty="0">
                <a:solidFill>
                  <a:srgbClr val="FF0000"/>
                </a:solidFill>
              </a:rPr>
              <a:t>());</a:t>
            </a:r>
          </a:p>
          <a:p>
            <a:pPr marL="0" indent="0">
              <a:buNone/>
            </a:pPr>
            <a:r>
              <a:rPr lang="en-US" dirty="0"/>
              <a:t>In the above example, we are converting all orders from Order stream into List&lt;Order&gt;. Sometimes we require to reduce (aggregate) the stream. Here we should use Collectors class. Consider the following requirements:</a:t>
            </a:r>
          </a:p>
          <a:p>
            <a:pPr lvl="1"/>
            <a:r>
              <a:rPr lang="en-US" dirty="0"/>
              <a:t>Group a list of transactions by currency to obtain the sum of the values of all transactions with that currency (returning a Map&lt;Currency, Integer&gt;).</a:t>
            </a:r>
          </a:p>
          <a:p>
            <a:pPr lvl="1"/>
            <a:r>
              <a:rPr lang="en-US" dirty="0"/>
              <a:t>Partition a list of transactions into two groups: expensive and not expensive (returning a Map&lt;Boolean, List&lt;Transaction&gt;&gt;)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159B6-E847-43DF-A986-0760B344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84821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Predefined collectors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Java 8 defines several predefined collectors. These collectors offer three main functionalities:</a:t>
            </a:r>
          </a:p>
          <a:p>
            <a:pPr lvl="1"/>
            <a:r>
              <a:rPr lang="en-US" dirty="0"/>
              <a:t>Reducing and summarizing stream elements to a single value</a:t>
            </a:r>
          </a:p>
          <a:p>
            <a:pPr lvl="1"/>
            <a:r>
              <a:rPr lang="en-US" dirty="0"/>
              <a:t>Grouping elements</a:t>
            </a:r>
          </a:p>
          <a:p>
            <a:pPr lvl="1"/>
            <a:r>
              <a:rPr lang="en-US" dirty="0"/>
              <a:t>Partitioning elements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F4D03-341F-417D-9889-42A0A639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50187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and summarizing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static </a:t>
            </a:r>
            <a:r>
              <a:rPr lang="en-US" dirty="0" err="1"/>
              <a:t>java.util.stream.Collectors</a:t>
            </a:r>
            <a:r>
              <a:rPr lang="en-US" dirty="0"/>
              <a:t>.*;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long </a:t>
            </a:r>
            <a:r>
              <a:rPr lang="en-US" dirty="0" err="1"/>
              <a:t>totalTransactionCount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().collect(counting());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Comparator&lt;Order&gt; </a:t>
            </a:r>
            <a:r>
              <a:rPr lang="en-US" dirty="0" err="1"/>
              <a:t>orderPriceComparator</a:t>
            </a:r>
            <a:r>
              <a:rPr lang="en-US" dirty="0"/>
              <a:t> = </a:t>
            </a:r>
            <a:r>
              <a:rPr lang="en-US" dirty="0" err="1"/>
              <a:t>Comparator.comparingInt</a:t>
            </a:r>
            <a:r>
              <a:rPr lang="en-US" dirty="0"/>
              <a:t>(Order::</a:t>
            </a:r>
            <a:r>
              <a:rPr lang="en-US" dirty="0" err="1"/>
              <a:t>getPrice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Optional&lt;Order&gt; </a:t>
            </a:r>
            <a:r>
              <a:rPr lang="en-US" dirty="0" err="1"/>
              <a:t>maxPriceOrder</a:t>
            </a:r>
            <a:r>
              <a:rPr lang="en-US" dirty="0"/>
              <a:t> = </a:t>
            </a:r>
            <a:r>
              <a:rPr lang="en-US" dirty="0" err="1"/>
              <a:t>orders.stream</a:t>
            </a:r>
            <a:r>
              <a:rPr lang="en-US" dirty="0"/>
              <a:t>().collect(</a:t>
            </a:r>
            <a:r>
              <a:rPr lang="en-US" dirty="0" err="1"/>
              <a:t>maxBy</a:t>
            </a:r>
            <a:r>
              <a:rPr lang="en-US" dirty="0"/>
              <a:t>(</a:t>
            </a:r>
            <a:r>
              <a:rPr lang="en-US" dirty="0" err="1"/>
              <a:t>orderPriceComparator</a:t>
            </a:r>
            <a:r>
              <a:rPr lang="en-US" dirty="0"/>
              <a:t>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totalOrderPrice</a:t>
            </a:r>
            <a:r>
              <a:rPr lang="en-US" dirty="0"/>
              <a:t> = </a:t>
            </a:r>
            <a:r>
              <a:rPr lang="en-US" dirty="0" err="1"/>
              <a:t>orders.stream</a:t>
            </a:r>
            <a:r>
              <a:rPr lang="en-US" dirty="0"/>
              <a:t>().collect(</a:t>
            </a:r>
            <a:r>
              <a:rPr lang="en-US" dirty="0" err="1"/>
              <a:t>summingInt</a:t>
            </a:r>
            <a:r>
              <a:rPr lang="en-US" dirty="0"/>
              <a:t>(Order::</a:t>
            </a:r>
            <a:r>
              <a:rPr lang="en-US" dirty="0" err="1"/>
              <a:t>getPrice</a:t>
            </a:r>
            <a:r>
              <a:rPr lang="en-US" dirty="0"/>
              <a:t>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 </a:t>
            </a:r>
            <a:r>
              <a:rPr lang="en-US" dirty="0" err="1"/>
              <a:t>orderTitles</a:t>
            </a:r>
            <a:r>
              <a:rPr lang="en-US" dirty="0"/>
              <a:t> = </a:t>
            </a:r>
            <a:r>
              <a:rPr lang="en-US" dirty="0" err="1"/>
              <a:t>orders.stream</a:t>
            </a:r>
            <a:r>
              <a:rPr lang="en-US" dirty="0"/>
              <a:t>().map(Order::</a:t>
            </a:r>
            <a:r>
              <a:rPr lang="en-US" dirty="0" err="1"/>
              <a:t>getTitle</a:t>
            </a:r>
            <a:r>
              <a:rPr lang="en-US" dirty="0"/>
              <a:t>).collect(joining(", "));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BE51F-D248-4D5F-8D5E-4231E8A4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44288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286500" cy="38290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Single-level grouping:</a:t>
            </a:r>
          </a:p>
          <a:p>
            <a:pPr marL="205740" lvl="1" indent="0">
              <a:buNone/>
            </a:pPr>
            <a:r>
              <a:rPr lang="en-US" dirty="0"/>
              <a:t>Map&lt;Currency, List&lt;Transaction&gt;&gt; </a:t>
            </a:r>
            <a:r>
              <a:rPr lang="en-US" dirty="0" err="1"/>
              <a:t>transactionsByCurrencies</a:t>
            </a:r>
            <a:r>
              <a:rPr lang="en-US" dirty="0"/>
              <a:t> = </a:t>
            </a:r>
            <a:r>
              <a:rPr lang="en-US" dirty="0" err="1"/>
              <a:t>transactions.stream</a:t>
            </a:r>
            <a:r>
              <a:rPr lang="en-US" dirty="0"/>
              <a:t>()</a:t>
            </a:r>
          </a:p>
          <a:p>
            <a:pPr marL="205740" lvl="1" indent="0">
              <a:buNone/>
            </a:pPr>
            <a:r>
              <a:rPr lang="en-US" dirty="0"/>
              <a:t>.collect(</a:t>
            </a:r>
            <a:r>
              <a:rPr lang="en-US" dirty="0" err="1">
                <a:solidFill>
                  <a:srgbClr val="FF0000"/>
                </a:solidFill>
              </a:rPr>
              <a:t>groupingBy</a:t>
            </a:r>
            <a:r>
              <a:rPr lang="en-US" dirty="0"/>
              <a:t>(Transaction::</a:t>
            </a:r>
            <a:r>
              <a:rPr lang="en-US" dirty="0" err="1"/>
              <a:t>getCurrency</a:t>
            </a:r>
            <a:r>
              <a:rPr lang="en-US" dirty="0"/>
              <a:t>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Multilevel grouping:</a:t>
            </a:r>
          </a:p>
          <a:p>
            <a:pPr marL="205740" lvl="1" indent="0">
              <a:buNone/>
            </a:pPr>
            <a:r>
              <a:rPr lang="en-US" dirty="0"/>
              <a:t>Map&lt;Currency, Map&lt;String, List&lt;Transaction&gt;&gt;&gt; </a:t>
            </a:r>
            <a:r>
              <a:rPr lang="en-US" dirty="0" err="1"/>
              <a:t>transactionsByCurrenciesAndLocation</a:t>
            </a:r>
            <a:r>
              <a:rPr lang="en-US" dirty="0"/>
              <a:t> =</a:t>
            </a:r>
          </a:p>
          <a:p>
            <a:pPr marL="205740" lvl="1" indent="0">
              <a:buNone/>
            </a:pPr>
            <a:r>
              <a:rPr lang="en-US" dirty="0" err="1"/>
              <a:t>transactions.stream</a:t>
            </a:r>
            <a:r>
              <a:rPr lang="en-US" dirty="0"/>
              <a:t>().collect(</a:t>
            </a:r>
            <a:r>
              <a:rPr lang="en-US" dirty="0" err="1">
                <a:solidFill>
                  <a:srgbClr val="FF0000"/>
                </a:solidFill>
              </a:rPr>
              <a:t>groupingBy</a:t>
            </a:r>
            <a:r>
              <a:rPr lang="en-US" dirty="0"/>
              <a:t>(Transaction::</a:t>
            </a:r>
            <a:r>
              <a:rPr lang="en-US" dirty="0" err="1"/>
              <a:t>getCurrency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groupingBy</a:t>
            </a:r>
            <a:r>
              <a:rPr lang="en-US" dirty="0"/>
              <a:t>(Transaction::</a:t>
            </a:r>
            <a:r>
              <a:rPr lang="en-US" dirty="0" err="1"/>
              <a:t>getLocation</a:t>
            </a:r>
            <a:r>
              <a:rPr lang="en-US" dirty="0"/>
              <a:t>) ));</a:t>
            </a:r>
          </a:p>
          <a:p>
            <a:pPr marL="20574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Subgrouping:</a:t>
            </a:r>
          </a:p>
          <a:p>
            <a:pPr marL="205740" lvl="1" indent="0">
              <a:buNone/>
            </a:pPr>
            <a:r>
              <a:rPr lang="en-US" dirty="0"/>
              <a:t>Map&lt;</a:t>
            </a:r>
            <a:r>
              <a:rPr lang="en-US" dirty="0" err="1"/>
              <a:t>Transaction.Currency</a:t>
            </a:r>
            <a:r>
              <a:rPr lang="en-US" dirty="0"/>
              <a:t>, Long&gt; </a:t>
            </a:r>
            <a:r>
              <a:rPr lang="en-US" dirty="0" err="1"/>
              <a:t>currencyCount</a:t>
            </a:r>
            <a:r>
              <a:rPr lang="en-US" dirty="0"/>
              <a:t> = </a:t>
            </a:r>
            <a:r>
              <a:rPr lang="en-US" dirty="0" err="1"/>
              <a:t>menu.stream</a:t>
            </a:r>
            <a:r>
              <a:rPr lang="en-US" dirty="0"/>
              <a:t>().collect(</a:t>
            </a:r>
            <a:r>
              <a:rPr lang="en-US" dirty="0" err="1">
                <a:solidFill>
                  <a:srgbClr val="FF0000"/>
                </a:solidFill>
              </a:rPr>
              <a:t>groupingBy</a:t>
            </a:r>
            <a:r>
              <a:rPr lang="en-US" dirty="0"/>
              <a:t>(Transaction::</a:t>
            </a:r>
            <a:r>
              <a:rPr lang="en-US" dirty="0" err="1"/>
              <a:t>getCurrency</a:t>
            </a:r>
            <a:r>
              <a:rPr lang="en-US" dirty="0"/>
              <a:t>, counting()));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CB3FC-677D-4718-9B6E-51BFCBB47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77093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Partitioning is a special case of grouping: having a predicate, called a </a:t>
            </a:r>
            <a:r>
              <a:rPr lang="en-US" i="1" dirty="0"/>
              <a:t>partitioning function</a:t>
            </a:r>
            <a:r>
              <a:rPr lang="en-US" dirty="0"/>
              <a:t>, as a classification function.</a:t>
            </a:r>
          </a:p>
          <a:p>
            <a:pPr marL="205740" lvl="1" indent="0">
              <a:buNone/>
            </a:pPr>
            <a:r>
              <a:rPr lang="en-US" dirty="0"/>
              <a:t>Map&lt;Boolean, List&lt;Order&gt;&gt; </a:t>
            </a:r>
            <a:r>
              <a:rPr lang="en-US" dirty="0" err="1"/>
              <a:t>partitionedOrders</a:t>
            </a:r>
            <a:r>
              <a:rPr lang="en-US" dirty="0"/>
              <a:t> = </a:t>
            </a:r>
            <a:r>
              <a:rPr lang="en-US" dirty="0" err="1"/>
              <a:t>orders.stream</a:t>
            </a:r>
            <a:r>
              <a:rPr lang="en-US" dirty="0"/>
              <a:t>().collect(</a:t>
            </a:r>
            <a:r>
              <a:rPr lang="en-US" dirty="0" err="1">
                <a:solidFill>
                  <a:srgbClr val="FF0000"/>
                </a:solidFill>
              </a:rPr>
              <a:t>partitioningBy</a:t>
            </a:r>
            <a:r>
              <a:rPr lang="en-US" dirty="0"/>
              <a:t>(Order::</a:t>
            </a:r>
            <a:r>
              <a:rPr lang="en-US" dirty="0" err="1"/>
              <a:t>isOpen</a:t>
            </a:r>
            <a:r>
              <a:rPr lang="en-US" dirty="0"/>
              <a:t>));</a:t>
            </a:r>
          </a:p>
          <a:p>
            <a:pPr marL="205740" lvl="1" indent="0">
              <a:buNone/>
            </a:pPr>
            <a:r>
              <a:rPr lang="en-US" dirty="0"/>
              <a:t>List&lt;Order&gt; </a:t>
            </a:r>
            <a:r>
              <a:rPr lang="en-US" dirty="0" err="1"/>
              <a:t>openOrders</a:t>
            </a:r>
            <a:r>
              <a:rPr lang="en-US" dirty="0"/>
              <a:t> = </a:t>
            </a:r>
            <a:r>
              <a:rPr lang="en-US" dirty="0" err="1"/>
              <a:t>partionedOrders.get</a:t>
            </a:r>
            <a:r>
              <a:rPr lang="en-US" dirty="0"/>
              <a:t>(true);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9B45C-17CE-407A-96B5-8CCE446B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36795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parallel stream is a stream that splits its elements into multiple chunks, processing each chunk with a different thread.</a:t>
            </a:r>
          </a:p>
          <a:p>
            <a:pPr marL="0" indent="0">
              <a:buNone/>
            </a:pPr>
            <a:r>
              <a:rPr lang="en-US" dirty="0"/>
              <a:t>Sequential stream:</a:t>
            </a:r>
          </a:p>
          <a:p>
            <a:pPr marL="205740" lvl="1" indent="0">
              <a:buNone/>
            </a:pPr>
            <a:r>
              <a:rPr lang="en-US" dirty="0" err="1"/>
              <a:t>Stream.iterate</a:t>
            </a:r>
            <a:r>
              <a:rPr lang="en-US" dirty="0"/>
              <a:t>(1, </a:t>
            </a:r>
            <a:r>
              <a:rPr lang="en-US" dirty="0" err="1"/>
              <a:t>i</a:t>
            </a:r>
            <a:r>
              <a:rPr lang="en-US" dirty="0"/>
              <a:t> -&gt; </a:t>
            </a:r>
            <a:r>
              <a:rPr lang="en-US" dirty="0" err="1"/>
              <a:t>i</a:t>
            </a:r>
            <a:r>
              <a:rPr lang="en-US" dirty="0"/>
              <a:t> + 1).limit(5).reduce(Integer::sum);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Parallel stream:</a:t>
            </a:r>
          </a:p>
          <a:p>
            <a:pPr marL="205740" lvl="1" indent="0">
              <a:buNone/>
            </a:pPr>
            <a:r>
              <a:rPr lang="en-US" dirty="0" err="1"/>
              <a:t>Stream.iterate</a:t>
            </a:r>
            <a:r>
              <a:rPr lang="en-US" dirty="0"/>
              <a:t>(1, </a:t>
            </a:r>
            <a:r>
              <a:rPr lang="en-US" dirty="0" err="1"/>
              <a:t>i</a:t>
            </a:r>
            <a:r>
              <a:rPr lang="en-US" dirty="0"/>
              <a:t> -&gt; </a:t>
            </a:r>
            <a:r>
              <a:rPr lang="en-US" dirty="0" err="1"/>
              <a:t>i</a:t>
            </a:r>
            <a:r>
              <a:rPr lang="en-US" dirty="0"/>
              <a:t> + 1)</a:t>
            </a:r>
          </a:p>
          <a:p>
            <a:pPr marL="205740" lvl="1" indent="0">
              <a:buNone/>
            </a:pPr>
            <a:r>
              <a:rPr lang="en-US" dirty="0"/>
              <a:t>.limit(5)</a:t>
            </a:r>
          </a:p>
          <a:p>
            <a:pPr marL="20574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.parallel()</a:t>
            </a:r>
          </a:p>
          <a:p>
            <a:pPr marL="205740" lvl="1" indent="0">
              <a:buNone/>
            </a:pPr>
            <a:r>
              <a:rPr lang="en-US" dirty="0"/>
              <a:t>.reduce(Integer::sum);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20F13-1865-4421-B3B0-3CB1D028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2826437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Decision between Sequential stream &amp; Parallel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parallel stream if you have at least one thousand elements.</a:t>
            </a:r>
          </a:p>
          <a:p>
            <a:r>
              <a:rPr lang="en-US" dirty="0"/>
              <a:t>We should never parallel stream for operations like limit() &amp; </a:t>
            </a:r>
            <a:r>
              <a:rPr lang="en-US" dirty="0" err="1"/>
              <a:t>findFirst</a:t>
            </a:r>
            <a:r>
              <a:rPr lang="en-US" dirty="0"/>
              <a:t>(). Note that parallel streams are not always faster than sequential stream.</a:t>
            </a:r>
          </a:p>
          <a:p>
            <a:r>
              <a:rPr lang="en-US" dirty="0"/>
              <a:t>We can use parallel stream for </a:t>
            </a:r>
            <a:r>
              <a:rPr lang="en-US" dirty="0" err="1"/>
              <a:t>findAny</a:t>
            </a:r>
            <a:r>
              <a:rPr lang="en-US" dirty="0"/>
              <a:t>() operation.</a:t>
            </a:r>
          </a:p>
          <a:p>
            <a:r>
              <a:rPr lang="en-US" dirty="0"/>
              <a:t>Take into account how well the data structure underlying the stream decomposes. For instance, an </a:t>
            </a:r>
            <a:r>
              <a:rPr lang="en-US" dirty="0" err="1"/>
              <a:t>ArrayList</a:t>
            </a:r>
            <a:r>
              <a:rPr lang="en-US" dirty="0"/>
              <a:t> can be split much more efficiently than a </a:t>
            </a:r>
            <a:r>
              <a:rPr lang="en-US" dirty="0" err="1"/>
              <a:t>LinkedList</a:t>
            </a:r>
            <a:r>
              <a:rPr lang="en-US" dirty="0"/>
              <a:t>. So we can use parallel stream for </a:t>
            </a:r>
            <a:r>
              <a:rPr lang="en-US" dirty="0" err="1"/>
              <a:t>ArrayList</a:t>
            </a:r>
            <a:r>
              <a:rPr lang="en-US" dirty="0"/>
              <a:t> but not for </a:t>
            </a:r>
            <a:r>
              <a:rPr lang="en-US" dirty="0" err="1"/>
              <a:t>LinkedList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7A253-FD4B-4C47-9DEC-D267F832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04886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885950"/>
            <a:ext cx="6172200" cy="742950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Date APIs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D10E6-1B14-4F4C-B509-80A3A71F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6354146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Date APIs prior to Java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1650" dirty="0"/>
              <a:t>In Java 1.0, the class </a:t>
            </a:r>
            <a:r>
              <a:rPr lang="en-US" sz="1650" dirty="0" err="1"/>
              <a:t>java.util.Date</a:t>
            </a:r>
            <a:r>
              <a:rPr lang="en-US" sz="1650" dirty="0"/>
              <a:t> does not represent a date but a point in time in millisecond precision.</a:t>
            </a:r>
          </a:p>
          <a:p>
            <a:r>
              <a:rPr lang="en-US" sz="1650" dirty="0"/>
              <a:t>The year starts from 1900 &amp; month starts from zero.</a:t>
            </a:r>
          </a:p>
          <a:p>
            <a:r>
              <a:rPr lang="en-US" sz="1650" dirty="0"/>
              <a:t>If you wish to build a date 27 Jul 2015, then create Date object as follows:</a:t>
            </a:r>
          </a:p>
          <a:p>
            <a:pPr marL="205740" lvl="1" indent="0">
              <a:buNone/>
            </a:pPr>
            <a:r>
              <a:rPr lang="en-US" sz="1650" dirty="0"/>
              <a:t>Date </a:t>
            </a:r>
            <a:r>
              <a:rPr lang="en-US" sz="1650" dirty="0" err="1"/>
              <a:t>date</a:t>
            </a:r>
            <a:r>
              <a:rPr lang="en-US" sz="1650" dirty="0"/>
              <a:t> = new Date(115, 6, 27);</a:t>
            </a:r>
          </a:p>
          <a:p>
            <a:r>
              <a:rPr lang="en-US" sz="1650" dirty="0"/>
              <a:t>In Java 1.1 deprecated several methods of Date class &amp; introduced Calendar class.</a:t>
            </a:r>
          </a:p>
          <a:p>
            <a:r>
              <a:rPr lang="en-US" sz="1650" dirty="0"/>
              <a:t>In Calendar also month starts with zero. Using Calendar &amp; Date builds confusion.</a:t>
            </a:r>
          </a:p>
          <a:p>
            <a:r>
              <a:rPr lang="en-US" sz="1650" dirty="0"/>
              <a:t>In order to format the date, </a:t>
            </a:r>
            <a:r>
              <a:rPr lang="en-US" sz="1650" dirty="0" err="1"/>
              <a:t>DateFormat</a:t>
            </a:r>
            <a:r>
              <a:rPr lang="en-US" sz="1650" dirty="0"/>
              <a:t> class was introduced. However, it is not thread safe.</a:t>
            </a:r>
          </a:p>
          <a:p>
            <a:r>
              <a:rPr lang="en-US" sz="1650" dirty="0"/>
              <a:t>Developers started using third party date libraries.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68815-9D2D-4C45-BB4D-DA9CCEC1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84816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 8 Date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/>
              <a:t>Java 8 introduced a package </a:t>
            </a:r>
            <a:r>
              <a:rPr lang="en-US" sz="1800" i="1" dirty="0" err="1"/>
              <a:t>java.time</a:t>
            </a:r>
            <a:r>
              <a:rPr lang="en-US" sz="1800" dirty="0"/>
              <a:t> to handle date.</a:t>
            </a:r>
          </a:p>
          <a:p>
            <a:r>
              <a:rPr lang="en-US" sz="1800" dirty="0"/>
              <a:t>New Date API provides separate classes for handling dates, time, different </a:t>
            </a:r>
            <a:r>
              <a:rPr lang="en-US" sz="1800" dirty="0" err="1"/>
              <a:t>timezones</a:t>
            </a:r>
            <a:r>
              <a:rPr lang="en-US" sz="1800" dirty="0"/>
              <a:t>, duration, easy manipulation of date/time etc.</a:t>
            </a:r>
          </a:p>
          <a:p>
            <a:r>
              <a:rPr lang="en-US" sz="1800" dirty="0"/>
              <a:t>Important classes are:</a:t>
            </a:r>
          </a:p>
          <a:p>
            <a:pPr lvl="1"/>
            <a:r>
              <a:rPr lang="en-US" sz="1500" dirty="0" err="1"/>
              <a:t>LocalDate</a:t>
            </a:r>
            <a:endParaRPr lang="en-US" sz="1500" dirty="0"/>
          </a:p>
          <a:p>
            <a:pPr lvl="1"/>
            <a:r>
              <a:rPr lang="en-US" sz="1500" dirty="0" err="1"/>
              <a:t>LocalTime</a:t>
            </a:r>
            <a:endParaRPr lang="en-US" sz="1500" dirty="0"/>
          </a:p>
          <a:p>
            <a:pPr lvl="1"/>
            <a:r>
              <a:rPr lang="en-US" sz="1500" dirty="0" err="1"/>
              <a:t>LocalDateTime</a:t>
            </a:r>
            <a:endParaRPr lang="en-US" sz="1500" dirty="0"/>
          </a:p>
          <a:p>
            <a:pPr lvl="1"/>
            <a:r>
              <a:rPr lang="en-US" sz="1500" dirty="0"/>
              <a:t>Duration</a:t>
            </a:r>
          </a:p>
          <a:p>
            <a:pPr lvl="1"/>
            <a:r>
              <a:rPr lang="en-US" sz="1500" dirty="0"/>
              <a:t>Period</a:t>
            </a:r>
          </a:p>
          <a:p>
            <a:pPr lvl="1"/>
            <a:r>
              <a:rPr lang="en-US" sz="1500" dirty="0" err="1"/>
              <a:t>TemporalAdjusters</a:t>
            </a:r>
            <a:endParaRPr lang="en-US" sz="1500" dirty="0"/>
          </a:p>
          <a:p>
            <a:pPr lvl="1"/>
            <a:r>
              <a:rPr lang="en-US" sz="1500" dirty="0" err="1"/>
              <a:t>DateTimeFormatter</a:t>
            </a:r>
            <a:endParaRPr lang="en-US" sz="1500" dirty="0"/>
          </a:p>
          <a:p>
            <a:pPr lvl="1"/>
            <a:r>
              <a:rPr lang="en-US" sz="1500" dirty="0" err="1"/>
              <a:t>ZoneId</a:t>
            </a:r>
            <a:endParaRPr lang="en-US" sz="1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64C7-E236-4DA2-884C-ED5FA953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25457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LocalDate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</a:t>
            </a:r>
            <a:r>
              <a:rPr lang="en-US" sz="1650" dirty="0" err="1"/>
              <a:t>localDate</a:t>
            </a:r>
            <a:r>
              <a:rPr lang="en-US" sz="1650" dirty="0"/>
              <a:t> = </a:t>
            </a:r>
            <a:r>
              <a:rPr lang="en-US" sz="1650" dirty="0" err="1"/>
              <a:t>LocalDate.now</a:t>
            </a:r>
            <a:r>
              <a:rPr lang="en-US" sz="1650" dirty="0"/>
              <a:t>();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</a:t>
            </a:r>
            <a:r>
              <a:rPr lang="en-US" sz="1650" dirty="0" err="1"/>
              <a:t>localDate</a:t>
            </a:r>
            <a:r>
              <a:rPr lang="en-US" sz="1650" dirty="0"/>
              <a:t> = </a:t>
            </a:r>
            <a:r>
              <a:rPr lang="en-US" sz="1650" dirty="0" err="1"/>
              <a:t>LocalDate.of</a:t>
            </a:r>
            <a:r>
              <a:rPr lang="en-US" sz="1650" dirty="0"/>
              <a:t>(2015, 4, 27);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</a:t>
            </a:r>
            <a:r>
              <a:rPr lang="en-US" sz="1650" dirty="0" err="1"/>
              <a:t>localDate</a:t>
            </a:r>
            <a:r>
              <a:rPr lang="en-US" sz="1650" dirty="0"/>
              <a:t>); </a:t>
            </a:r>
            <a:r>
              <a:rPr lang="en-US" sz="1650" dirty="0">
                <a:solidFill>
                  <a:srgbClr val="FF0000"/>
                </a:solidFill>
              </a:rPr>
              <a:t>//2015-04-27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</a:t>
            </a:r>
            <a:r>
              <a:rPr lang="en-US" sz="1650" dirty="0" err="1"/>
              <a:t>localDate.getDayOfMonth</a:t>
            </a:r>
            <a:r>
              <a:rPr lang="en-US" sz="1650" dirty="0"/>
              <a:t>() + "/" + </a:t>
            </a:r>
            <a:r>
              <a:rPr lang="en-US" sz="1650" dirty="0" err="1"/>
              <a:t>localDate.getMonth</a:t>
            </a:r>
            <a:r>
              <a:rPr lang="en-US" sz="1650" dirty="0"/>
              <a:t>().</a:t>
            </a:r>
            <a:r>
              <a:rPr lang="en-US" sz="1650" dirty="0" err="1"/>
              <a:t>getValue</a:t>
            </a:r>
            <a:r>
              <a:rPr lang="en-US" sz="1650" dirty="0"/>
              <a:t>() + "/" + </a:t>
            </a:r>
            <a:r>
              <a:rPr lang="en-US" sz="1650" dirty="0" err="1"/>
              <a:t>localDate.getYear</a:t>
            </a:r>
            <a:r>
              <a:rPr lang="en-US" sz="1650" dirty="0"/>
              <a:t>());</a:t>
            </a:r>
          </a:p>
          <a:p>
            <a:pPr marL="205740" lvl="1" indent="0">
              <a:buNone/>
            </a:pPr>
            <a:r>
              <a:rPr lang="en-US" sz="1650" dirty="0">
                <a:solidFill>
                  <a:srgbClr val="FF0000"/>
                </a:solidFill>
              </a:rPr>
              <a:t>//27/4/2015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year = </a:t>
            </a:r>
            <a:r>
              <a:rPr lang="en-US" sz="1650" dirty="0" err="1"/>
              <a:t>localDate.get</a:t>
            </a:r>
            <a:r>
              <a:rPr lang="en-US" sz="1650" dirty="0"/>
              <a:t>(</a:t>
            </a:r>
            <a:r>
              <a:rPr lang="en-US" sz="1650" dirty="0" err="1"/>
              <a:t>ChronoField.YEAR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month = </a:t>
            </a:r>
            <a:r>
              <a:rPr lang="en-US" sz="1650" dirty="0" err="1"/>
              <a:t>localDate.get</a:t>
            </a:r>
            <a:r>
              <a:rPr lang="en-US" sz="1650" dirty="0"/>
              <a:t>(</a:t>
            </a:r>
            <a:r>
              <a:rPr lang="en-US" sz="1650" dirty="0" err="1"/>
              <a:t>ChronoField.MONTH_OF_YEAR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day = </a:t>
            </a:r>
            <a:r>
              <a:rPr lang="en-US" sz="1650" dirty="0" err="1"/>
              <a:t>localDate.get</a:t>
            </a:r>
            <a:r>
              <a:rPr lang="en-US" sz="1650" dirty="0"/>
              <a:t>(</a:t>
            </a:r>
            <a:r>
              <a:rPr lang="en-US" sz="1650" dirty="0" err="1"/>
              <a:t>ChronoField.DAY_OF_MONTH</a:t>
            </a:r>
            <a:r>
              <a:rPr lang="en-US" sz="1650" dirty="0"/>
              <a:t>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F5199-41C0-4417-BE88-A1BF95CA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25352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LocalTime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 err="1"/>
              <a:t>LocalTime</a:t>
            </a:r>
            <a:r>
              <a:rPr lang="en-US" sz="1650" dirty="0"/>
              <a:t> </a:t>
            </a:r>
            <a:r>
              <a:rPr lang="en-US" sz="1650" dirty="0" err="1"/>
              <a:t>localTime</a:t>
            </a:r>
            <a:r>
              <a:rPr lang="en-US" sz="1650" dirty="0"/>
              <a:t> = </a:t>
            </a:r>
            <a:r>
              <a:rPr lang="en-US" sz="1650" dirty="0" err="1"/>
              <a:t>LocalTime.now</a:t>
            </a:r>
            <a:r>
              <a:rPr lang="en-US" sz="1650" dirty="0"/>
              <a:t>();</a:t>
            </a:r>
          </a:p>
          <a:p>
            <a:pPr marL="0" indent="0">
              <a:buNone/>
            </a:pPr>
            <a:r>
              <a:rPr lang="en-US" sz="1650" dirty="0" err="1"/>
              <a:t>LocalTime</a:t>
            </a:r>
            <a:r>
              <a:rPr lang="en-US" sz="1650" dirty="0"/>
              <a:t> </a:t>
            </a:r>
            <a:r>
              <a:rPr lang="en-US" sz="1650" dirty="0" err="1"/>
              <a:t>localTime</a:t>
            </a:r>
            <a:r>
              <a:rPr lang="en-US" sz="1650" dirty="0"/>
              <a:t> = </a:t>
            </a:r>
            <a:r>
              <a:rPr lang="en-US" sz="1650" dirty="0" err="1"/>
              <a:t>LocalTime.of</a:t>
            </a:r>
            <a:r>
              <a:rPr lang="en-US" sz="1650" dirty="0"/>
              <a:t>(16, 27, 10);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hour = </a:t>
            </a:r>
            <a:r>
              <a:rPr lang="en-US" sz="1650" dirty="0" err="1"/>
              <a:t>localTime.getHour</a:t>
            </a:r>
            <a:r>
              <a:rPr lang="en-US" sz="1650" dirty="0"/>
              <a:t>(); </a:t>
            </a:r>
            <a:r>
              <a:rPr lang="en-US" sz="1650" dirty="0">
                <a:solidFill>
                  <a:srgbClr val="FF0000"/>
                </a:solidFill>
              </a:rPr>
              <a:t>//16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minute = </a:t>
            </a:r>
            <a:r>
              <a:rPr lang="en-US" sz="1650" dirty="0" err="1"/>
              <a:t>localTime.getMinute</a:t>
            </a:r>
            <a:r>
              <a:rPr lang="en-US" sz="1650" dirty="0"/>
              <a:t>(); </a:t>
            </a:r>
            <a:r>
              <a:rPr lang="en-US" sz="1650" dirty="0">
                <a:solidFill>
                  <a:srgbClr val="FF0000"/>
                </a:solidFill>
              </a:rPr>
              <a:t>//27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second = </a:t>
            </a:r>
            <a:r>
              <a:rPr lang="en-US" sz="1650" dirty="0" err="1"/>
              <a:t>localTime.getSecond</a:t>
            </a:r>
            <a:r>
              <a:rPr lang="en-US" sz="1650" dirty="0"/>
              <a:t>(); </a:t>
            </a:r>
            <a:r>
              <a:rPr lang="en-US" sz="1650" dirty="0">
                <a:solidFill>
                  <a:srgbClr val="FF0000"/>
                </a:solidFill>
              </a:rPr>
              <a:t>//10</a:t>
            </a:r>
          </a:p>
          <a:p>
            <a:pPr marL="0" indent="0">
              <a:buNone/>
            </a:pPr>
            <a:r>
              <a:rPr lang="en-US" sz="1650" dirty="0" err="1"/>
              <a:t>LocalTime</a:t>
            </a:r>
            <a:r>
              <a:rPr lang="en-US" sz="1650" dirty="0"/>
              <a:t> time = </a:t>
            </a:r>
            <a:r>
              <a:rPr lang="en-US" sz="1650" dirty="0" err="1"/>
              <a:t>LocalTime.parse</a:t>
            </a:r>
            <a:r>
              <a:rPr lang="en-US" sz="1650" dirty="0"/>
              <a:t>("15:15:20");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3F0B7-B8F7-4793-B6D3-0544C391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27348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LocalDateTime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 err="1"/>
              <a:t>LocalDateTime</a:t>
            </a:r>
            <a:r>
              <a:rPr lang="en-US" sz="1650" dirty="0"/>
              <a:t> dt1 = </a:t>
            </a:r>
            <a:r>
              <a:rPr lang="en-US" sz="1650" dirty="0" err="1"/>
              <a:t>LocalDateTime.of</a:t>
            </a:r>
            <a:r>
              <a:rPr lang="en-US" sz="1650" dirty="0"/>
              <a:t>(2015, </a:t>
            </a:r>
            <a:r>
              <a:rPr lang="en-US" sz="1650" dirty="0" err="1"/>
              <a:t>Month.APRIL</a:t>
            </a:r>
            <a:r>
              <a:rPr lang="en-US" sz="1650" dirty="0"/>
              <a:t>, 27, 16, 20, 10);</a:t>
            </a:r>
          </a:p>
          <a:p>
            <a:pPr marL="0" indent="0">
              <a:buNone/>
            </a:pPr>
            <a:r>
              <a:rPr lang="en-US" sz="1650" dirty="0" err="1"/>
              <a:t>LocalDateTime</a:t>
            </a:r>
            <a:r>
              <a:rPr lang="en-US" sz="1650" dirty="0"/>
              <a:t> dt2 = </a:t>
            </a:r>
            <a:r>
              <a:rPr lang="en-US" sz="1650" dirty="0" err="1"/>
              <a:t>LocalDateTime.of</a:t>
            </a:r>
            <a:r>
              <a:rPr lang="en-US" sz="1650" dirty="0"/>
              <a:t>(</a:t>
            </a:r>
            <a:r>
              <a:rPr lang="en-US" sz="1650" dirty="0" err="1"/>
              <a:t>localDate</a:t>
            </a:r>
            <a:r>
              <a:rPr lang="en-US" sz="1650" dirty="0"/>
              <a:t>, </a:t>
            </a:r>
            <a:r>
              <a:rPr lang="en-US" sz="1650" dirty="0" err="1"/>
              <a:t>localTime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 err="1"/>
              <a:t>LocalDateTime</a:t>
            </a:r>
            <a:r>
              <a:rPr lang="en-US" sz="1650" dirty="0"/>
              <a:t> dt3 = </a:t>
            </a:r>
            <a:r>
              <a:rPr lang="en-US" sz="1650" dirty="0" err="1"/>
              <a:t>localDate.atTime</a:t>
            </a:r>
            <a:r>
              <a:rPr lang="en-US" sz="1650" dirty="0"/>
              <a:t>(13, 45, 20);</a:t>
            </a:r>
          </a:p>
          <a:p>
            <a:pPr marL="0" indent="0">
              <a:buNone/>
            </a:pPr>
            <a:r>
              <a:rPr lang="en-US" sz="1650" dirty="0" err="1"/>
              <a:t>LocalDateTime</a:t>
            </a:r>
            <a:r>
              <a:rPr lang="en-US" sz="1650" dirty="0"/>
              <a:t> dt4 = </a:t>
            </a:r>
            <a:r>
              <a:rPr lang="en-US" sz="1650" dirty="0" err="1"/>
              <a:t>localDate.atTime</a:t>
            </a:r>
            <a:r>
              <a:rPr lang="en-US" sz="1650" dirty="0"/>
              <a:t>(</a:t>
            </a:r>
            <a:r>
              <a:rPr lang="en-US" sz="1650" dirty="0" err="1"/>
              <a:t>localTime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 err="1"/>
              <a:t>LocalDateTime</a:t>
            </a:r>
            <a:r>
              <a:rPr lang="en-US" sz="1650" dirty="0"/>
              <a:t> dt5 = </a:t>
            </a:r>
            <a:r>
              <a:rPr lang="en-US" sz="1650" dirty="0" err="1"/>
              <a:t>localTime.atDate</a:t>
            </a:r>
            <a:r>
              <a:rPr lang="en-US" sz="1650" dirty="0"/>
              <a:t>(date);</a:t>
            </a:r>
          </a:p>
          <a:p>
            <a:pPr marL="0" indent="0">
              <a:buNone/>
            </a:pPr>
            <a:endParaRPr lang="en-US" sz="1650" dirty="0"/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</a:t>
            </a:r>
            <a:r>
              <a:rPr lang="en-US" sz="1650" dirty="0" err="1"/>
              <a:t>localDate</a:t>
            </a:r>
            <a:r>
              <a:rPr lang="en-US" sz="1650" dirty="0"/>
              <a:t> = dt1.toLocalDate();</a:t>
            </a:r>
          </a:p>
          <a:p>
            <a:pPr marL="0" indent="0">
              <a:buNone/>
            </a:pPr>
            <a:r>
              <a:rPr lang="en-US" sz="1650" dirty="0" err="1"/>
              <a:t>LocalTime</a:t>
            </a:r>
            <a:r>
              <a:rPr lang="en-US" sz="1650" dirty="0"/>
              <a:t> </a:t>
            </a:r>
            <a:r>
              <a:rPr lang="en-US" sz="1650" dirty="0" err="1"/>
              <a:t>localTime</a:t>
            </a:r>
            <a:r>
              <a:rPr lang="en-US" sz="1650" dirty="0"/>
              <a:t> = dt1.toLocalTime();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FA087-D985-4535-83D1-37AA50BA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828892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Duration class models a quantity or amount of time in terms of seconds and nanoseconds. It is used to find out duration between two dates or two time objects. For example:</a:t>
            </a:r>
          </a:p>
          <a:p>
            <a:pPr marL="0" indent="0">
              <a:buNone/>
            </a:pPr>
            <a:r>
              <a:rPr lang="en-US" sz="1650" dirty="0"/>
              <a:t>Duration d1 = </a:t>
            </a:r>
            <a:r>
              <a:rPr lang="en-US" sz="1650" dirty="0" err="1"/>
              <a:t>Duration.between</a:t>
            </a:r>
            <a:r>
              <a:rPr lang="en-US" sz="1650" dirty="0"/>
              <a:t>(time1, time2);</a:t>
            </a:r>
          </a:p>
          <a:p>
            <a:pPr marL="0" indent="0">
              <a:buNone/>
            </a:pPr>
            <a:r>
              <a:rPr lang="en-US" sz="1650" dirty="0"/>
              <a:t>Duration d1 = </a:t>
            </a:r>
            <a:r>
              <a:rPr lang="en-US" sz="1650" dirty="0" err="1"/>
              <a:t>Duration.between</a:t>
            </a:r>
            <a:r>
              <a:rPr lang="en-US" sz="1650" dirty="0"/>
              <a:t>(dateTime1, dateTime2);</a:t>
            </a:r>
          </a:p>
          <a:p>
            <a:pPr marL="0" indent="0">
              <a:buNone/>
            </a:pPr>
            <a:r>
              <a:rPr lang="en-US" sz="1650" dirty="0"/>
              <a:t>long seconds = d1.getSeconds();</a:t>
            </a:r>
          </a:p>
          <a:p>
            <a:pPr marL="0" indent="0">
              <a:buNone/>
            </a:pPr>
            <a:r>
              <a:rPr lang="en-US" sz="1650" dirty="0"/>
              <a:t>Duration </a:t>
            </a:r>
            <a:r>
              <a:rPr lang="en-US" sz="1650" dirty="0" err="1"/>
              <a:t>fiveMinutes</a:t>
            </a:r>
            <a:r>
              <a:rPr lang="en-US" sz="1650" dirty="0"/>
              <a:t> = </a:t>
            </a:r>
            <a:r>
              <a:rPr lang="en-US" sz="1650" dirty="0" err="1"/>
              <a:t>Duration.ofMinutes</a:t>
            </a:r>
            <a:r>
              <a:rPr lang="en-US" sz="1650" dirty="0"/>
              <a:t>(5);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58288-58D8-4395-AA9F-664E98498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19515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When you need to model an amount of time in terms of years, months, and days, you can use the </a:t>
            </a:r>
            <a:r>
              <a:rPr lang="en-US" sz="1650" i="1" dirty="0"/>
              <a:t>Period</a:t>
            </a:r>
            <a:r>
              <a:rPr lang="en-US" sz="1650" dirty="0"/>
              <a:t> class.</a:t>
            </a:r>
          </a:p>
          <a:p>
            <a:pPr marL="0" indent="0">
              <a:buNone/>
            </a:pPr>
            <a:r>
              <a:rPr lang="en-US" sz="1650" dirty="0"/>
              <a:t>Period </a:t>
            </a:r>
            <a:r>
              <a:rPr lang="en-US" sz="1650" dirty="0" err="1"/>
              <a:t>tenDays</a:t>
            </a:r>
            <a:r>
              <a:rPr lang="en-US" sz="1650" dirty="0"/>
              <a:t> = </a:t>
            </a:r>
            <a:r>
              <a:rPr lang="en-US" sz="1650" dirty="0" err="1"/>
              <a:t>Period.between</a:t>
            </a:r>
            <a:r>
              <a:rPr lang="en-US" sz="1650" dirty="0"/>
              <a:t>(</a:t>
            </a:r>
            <a:r>
              <a:rPr lang="en-US" sz="1650" dirty="0" err="1"/>
              <a:t>LocalDate.of</a:t>
            </a:r>
            <a:r>
              <a:rPr lang="en-US" sz="1650" dirty="0"/>
              <a:t>(2014, 3, 8), </a:t>
            </a:r>
            <a:r>
              <a:rPr lang="en-US" sz="1650" dirty="0" err="1"/>
              <a:t>LocalDate.of</a:t>
            </a:r>
            <a:r>
              <a:rPr lang="en-US" sz="1650" dirty="0"/>
              <a:t>(2014, 3, 18));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days = </a:t>
            </a:r>
            <a:r>
              <a:rPr lang="en-US" sz="1650" dirty="0" err="1"/>
              <a:t>tenDays.getDays</a:t>
            </a:r>
            <a:r>
              <a:rPr lang="en-US" sz="1650" dirty="0"/>
              <a:t>();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months = </a:t>
            </a:r>
            <a:r>
              <a:rPr lang="en-US" sz="1650" dirty="0" err="1"/>
              <a:t>tenDays.getMonths</a:t>
            </a:r>
            <a:r>
              <a:rPr lang="en-US" sz="1650" dirty="0"/>
              <a:t>();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years = </a:t>
            </a:r>
            <a:r>
              <a:rPr lang="en-US" sz="1650" dirty="0" err="1"/>
              <a:t>tenDays.getYears</a:t>
            </a:r>
            <a:r>
              <a:rPr lang="en-US" sz="1650" dirty="0"/>
              <a:t>();</a:t>
            </a:r>
          </a:p>
          <a:p>
            <a:pPr marL="0" indent="0">
              <a:buNone/>
            </a:pPr>
            <a:r>
              <a:rPr lang="en-US" sz="1650" dirty="0"/>
              <a:t>Period </a:t>
            </a:r>
            <a:r>
              <a:rPr lang="en-US" sz="1650" dirty="0" err="1"/>
              <a:t>tenDays</a:t>
            </a:r>
            <a:r>
              <a:rPr lang="en-US" sz="1650" dirty="0"/>
              <a:t> = </a:t>
            </a:r>
            <a:r>
              <a:rPr lang="en-US" sz="1650" dirty="0" err="1"/>
              <a:t>Period.ofDays</a:t>
            </a:r>
            <a:r>
              <a:rPr lang="en-US" sz="1650" dirty="0"/>
              <a:t>(10);</a:t>
            </a:r>
          </a:p>
          <a:p>
            <a:pPr marL="0" indent="0">
              <a:buNone/>
            </a:pPr>
            <a:r>
              <a:rPr lang="en-US" sz="1650" dirty="0"/>
              <a:t>Period </a:t>
            </a:r>
            <a:r>
              <a:rPr lang="en-US" sz="1650" dirty="0" err="1"/>
              <a:t>threeWeeks</a:t>
            </a:r>
            <a:r>
              <a:rPr lang="en-US" sz="1650" dirty="0"/>
              <a:t> = </a:t>
            </a:r>
            <a:r>
              <a:rPr lang="en-US" sz="1650" dirty="0" err="1"/>
              <a:t>Period.ofWeeks</a:t>
            </a:r>
            <a:r>
              <a:rPr lang="en-US" sz="1650" dirty="0"/>
              <a:t>(3);</a:t>
            </a:r>
          </a:p>
          <a:p>
            <a:pPr marL="0" indent="0">
              <a:buNone/>
            </a:pPr>
            <a:r>
              <a:rPr lang="en-US" sz="1650" dirty="0"/>
              <a:t>Period </a:t>
            </a:r>
            <a:r>
              <a:rPr lang="en-US" sz="1650" dirty="0" err="1"/>
              <a:t>twoYearsSixMonthsOneDay</a:t>
            </a:r>
            <a:r>
              <a:rPr lang="en-US" sz="1650" dirty="0"/>
              <a:t> = </a:t>
            </a:r>
            <a:r>
              <a:rPr lang="en-US" sz="1650" dirty="0" err="1"/>
              <a:t>Period.of</a:t>
            </a:r>
            <a:r>
              <a:rPr lang="en-US" sz="1650" dirty="0"/>
              <a:t>(2, 6, 1);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F3452-A025-41FE-8D86-36448CE7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51591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TemporalAdjusters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/>
              <a:t>Sometimes you need to perform complex date/time manipulations such as adjusting a date to the next Sunday, the next working day, or the last day of the month etc. Here we can use </a:t>
            </a:r>
            <a:r>
              <a:rPr lang="en-US" sz="1650" dirty="0" err="1"/>
              <a:t>TemporalAdjusters</a:t>
            </a:r>
            <a:r>
              <a:rPr lang="en-US" sz="1650" dirty="0"/>
              <a:t>.</a:t>
            </a:r>
          </a:p>
          <a:p>
            <a:pPr marL="0" indent="0">
              <a:buNone/>
            </a:pPr>
            <a:r>
              <a:rPr lang="en-US" sz="1650" dirty="0"/>
              <a:t>import static </a:t>
            </a:r>
            <a:r>
              <a:rPr lang="en-US" sz="1650" dirty="0" err="1"/>
              <a:t>java.time.temporal.TemporalAdjusters</a:t>
            </a:r>
            <a:r>
              <a:rPr lang="en-US" sz="1650" dirty="0"/>
              <a:t>.*;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</a:t>
            </a:r>
            <a:r>
              <a:rPr lang="en-US" sz="1650" dirty="0" err="1"/>
              <a:t>nextSunday</a:t>
            </a:r>
            <a:r>
              <a:rPr lang="en-US" sz="1650" dirty="0"/>
              <a:t> = </a:t>
            </a:r>
            <a:r>
              <a:rPr lang="en-US" sz="1650" dirty="0" err="1"/>
              <a:t>currentLocalDate.with</a:t>
            </a:r>
            <a:r>
              <a:rPr lang="en-US" sz="1650" dirty="0">
                <a:solidFill>
                  <a:srgbClr val="FF0000"/>
                </a:solidFill>
              </a:rPr>
              <a:t>(</a:t>
            </a:r>
            <a:r>
              <a:rPr lang="en-US" sz="1650" dirty="0" err="1">
                <a:solidFill>
                  <a:srgbClr val="FF0000"/>
                </a:solidFill>
              </a:rPr>
              <a:t>nextOrSame</a:t>
            </a:r>
            <a:r>
              <a:rPr lang="en-US" sz="1650" dirty="0"/>
              <a:t>(</a:t>
            </a:r>
            <a:r>
              <a:rPr lang="en-US" sz="1650" dirty="0" err="1"/>
              <a:t>DayOfWeek.SUNDAY</a:t>
            </a:r>
            <a:r>
              <a:rPr lang="en-US" sz="1650" dirty="0"/>
              <a:t>));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</a:t>
            </a:r>
            <a:r>
              <a:rPr lang="en-US" sz="1650" dirty="0" err="1"/>
              <a:t>lastDayOfMonth</a:t>
            </a:r>
            <a:r>
              <a:rPr lang="en-US" sz="1650" dirty="0"/>
              <a:t> = </a:t>
            </a:r>
            <a:r>
              <a:rPr lang="en-US" sz="1650" dirty="0" err="1"/>
              <a:t>currentLocalDate.with</a:t>
            </a:r>
            <a:r>
              <a:rPr lang="en-US" sz="1650" dirty="0"/>
              <a:t>(</a:t>
            </a:r>
            <a:r>
              <a:rPr lang="en-US" sz="1650" dirty="0" err="1">
                <a:solidFill>
                  <a:srgbClr val="FF0000"/>
                </a:solidFill>
              </a:rPr>
              <a:t>lastDayOfMonth</a:t>
            </a:r>
            <a:r>
              <a:rPr lang="en-US" sz="1650" dirty="0"/>
              <a:t>());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AFCD8-41F5-464D-B604-AA35A6AB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42570638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TemporalAdjusters</a:t>
            </a:r>
            <a:r>
              <a:rPr lang="en-US" dirty="0"/>
              <a:t> continue…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50" dirty="0" err="1"/>
              <a:t>TemporalAdjuster</a:t>
            </a:r>
            <a:r>
              <a:rPr lang="en-US" sz="1650" dirty="0"/>
              <a:t> is an functional interface implemented by most of the date related classes. We can write implementation class to meet custom requirements.</a:t>
            </a:r>
          </a:p>
          <a:p>
            <a:pPr marL="0" indent="0">
              <a:buNone/>
            </a:pPr>
            <a:endParaRPr lang="en-US" sz="1650" dirty="0"/>
          </a:p>
          <a:p>
            <a:pPr marL="205740" lvl="1" indent="0">
              <a:buNone/>
            </a:pPr>
            <a:r>
              <a:rPr lang="pt-BR" sz="1425" dirty="0"/>
              <a:t>@FunctionalInterface</a:t>
            </a:r>
          </a:p>
          <a:p>
            <a:pPr marL="205740" lvl="1" indent="0">
              <a:buNone/>
            </a:pPr>
            <a:r>
              <a:rPr lang="pt-BR" sz="1425" dirty="0"/>
              <a:t>public interface TemporalAdjuster {</a:t>
            </a:r>
          </a:p>
          <a:p>
            <a:pPr marL="205740" lvl="1" indent="0">
              <a:buNone/>
            </a:pPr>
            <a:r>
              <a:rPr lang="pt-BR" sz="1425" dirty="0"/>
              <a:t>	Temporal adjustInto(Temporal temporal);</a:t>
            </a:r>
          </a:p>
          <a:p>
            <a:pPr marL="205740" lvl="1" indent="0">
              <a:buNone/>
            </a:pPr>
            <a:r>
              <a:rPr lang="pt-BR" sz="1425" dirty="0"/>
              <a:t>}</a:t>
            </a:r>
            <a:endParaRPr lang="en-US" sz="14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BC9AB-ABE2-4255-B9F5-186EC640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353762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</a:t>
            </a:r>
            <a:r>
              <a:rPr lang="en-US" dirty="0" err="1"/>
              <a:t>TemporalAdjusters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457950" cy="3703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50" dirty="0"/>
              <a:t>class </a:t>
            </a:r>
            <a:r>
              <a:rPr lang="en-US" sz="1650" dirty="0" err="1"/>
              <a:t>NextWorkingDay</a:t>
            </a:r>
            <a:r>
              <a:rPr lang="en-US" sz="1650" dirty="0"/>
              <a:t> </a:t>
            </a:r>
            <a:r>
              <a:rPr lang="en-US" sz="1650" dirty="0">
                <a:solidFill>
                  <a:srgbClr val="FF0000"/>
                </a:solidFill>
              </a:rPr>
              <a:t>implements </a:t>
            </a:r>
            <a:r>
              <a:rPr lang="en-US" sz="1650" dirty="0" err="1">
                <a:solidFill>
                  <a:srgbClr val="FF0000"/>
                </a:solidFill>
              </a:rPr>
              <a:t>TemporalAdjuster</a:t>
            </a:r>
            <a:r>
              <a:rPr lang="en-US" sz="1650" dirty="0"/>
              <a:t> {</a:t>
            </a:r>
          </a:p>
          <a:p>
            <a:pPr marL="0" indent="0">
              <a:buNone/>
            </a:pPr>
            <a:r>
              <a:rPr lang="en-US" sz="1650" dirty="0"/>
              <a:t>	</a:t>
            </a:r>
            <a:r>
              <a:rPr lang="en-US" sz="1650" dirty="0">
                <a:solidFill>
                  <a:srgbClr val="FF0000"/>
                </a:solidFill>
              </a:rPr>
              <a:t>public Temporal </a:t>
            </a:r>
            <a:r>
              <a:rPr lang="en-US" sz="1650" dirty="0" err="1">
                <a:solidFill>
                  <a:srgbClr val="FF0000"/>
                </a:solidFill>
              </a:rPr>
              <a:t>adjustInto</a:t>
            </a:r>
            <a:r>
              <a:rPr lang="en-US" sz="1650" dirty="0">
                <a:solidFill>
                  <a:srgbClr val="FF0000"/>
                </a:solidFill>
              </a:rPr>
              <a:t>(Temporal temporal)</a:t>
            </a:r>
            <a:r>
              <a:rPr lang="en-US" sz="1650" dirty="0"/>
              <a:t> {</a:t>
            </a:r>
          </a:p>
          <a:p>
            <a:pPr marL="0" indent="0">
              <a:buNone/>
            </a:pPr>
            <a:r>
              <a:rPr lang="en-US" sz="1650" dirty="0" err="1"/>
              <a:t>DayOfWeek</a:t>
            </a:r>
            <a:r>
              <a:rPr lang="en-US" sz="1650" dirty="0"/>
              <a:t> </a:t>
            </a:r>
            <a:r>
              <a:rPr lang="en-US" sz="1650" dirty="0" err="1"/>
              <a:t>dow</a:t>
            </a:r>
            <a:r>
              <a:rPr lang="en-US" sz="1650" dirty="0"/>
              <a:t> = </a:t>
            </a:r>
            <a:r>
              <a:rPr lang="en-US" sz="1650" dirty="0" err="1"/>
              <a:t>DayOfWeek.of</a:t>
            </a:r>
            <a:r>
              <a:rPr lang="en-US" sz="1650" dirty="0"/>
              <a:t>(</a:t>
            </a:r>
            <a:r>
              <a:rPr lang="en-US" sz="1650" dirty="0" err="1"/>
              <a:t>temporal.get</a:t>
            </a:r>
            <a:r>
              <a:rPr lang="en-US" sz="1650" dirty="0"/>
              <a:t>(</a:t>
            </a:r>
            <a:r>
              <a:rPr lang="en-US" sz="1650" dirty="0" err="1"/>
              <a:t>ChronoField.DAY_OF_WEEK</a:t>
            </a:r>
            <a:r>
              <a:rPr lang="en-US" sz="1650" dirty="0"/>
              <a:t>));</a:t>
            </a:r>
          </a:p>
          <a:p>
            <a:pPr marL="0" indent="0">
              <a:buNone/>
            </a:pPr>
            <a:r>
              <a:rPr lang="en-US" sz="1650" dirty="0" err="1"/>
              <a:t>int</a:t>
            </a:r>
            <a:r>
              <a:rPr lang="en-US" sz="1650" dirty="0"/>
              <a:t> </a:t>
            </a:r>
            <a:r>
              <a:rPr lang="en-US" sz="1650" dirty="0" err="1"/>
              <a:t>dayToAdd</a:t>
            </a:r>
            <a:r>
              <a:rPr lang="en-US" sz="1650" dirty="0"/>
              <a:t> = 1;</a:t>
            </a:r>
          </a:p>
          <a:p>
            <a:pPr marL="0" indent="0">
              <a:buNone/>
            </a:pPr>
            <a:r>
              <a:rPr lang="en-US" sz="1650" dirty="0"/>
              <a:t>if (</a:t>
            </a:r>
            <a:r>
              <a:rPr lang="en-US" sz="1650" dirty="0" err="1"/>
              <a:t>dow</a:t>
            </a:r>
            <a:r>
              <a:rPr lang="en-US" sz="1650" dirty="0"/>
              <a:t> == </a:t>
            </a:r>
            <a:r>
              <a:rPr lang="en-US" sz="1650" dirty="0" err="1"/>
              <a:t>DayOfWeek.FRIDAY</a:t>
            </a:r>
            <a:r>
              <a:rPr lang="en-US" sz="1650" dirty="0"/>
              <a:t>) { </a:t>
            </a:r>
            <a:r>
              <a:rPr lang="en-US" sz="1650" dirty="0" err="1"/>
              <a:t>dayToAdd</a:t>
            </a:r>
            <a:r>
              <a:rPr lang="en-US" sz="1650" dirty="0"/>
              <a:t> = 3; }</a:t>
            </a:r>
          </a:p>
          <a:p>
            <a:pPr marL="0" indent="0">
              <a:buNone/>
            </a:pPr>
            <a:r>
              <a:rPr lang="en-US" sz="1650" dirty="0"/>
              <a:t>else if (</a:t>
            </a:r>
            <a:r>
              <a:rPr lang="en-US" sz="1650" dirty="0" err="1"/>
              <a:t>dow</a:t>
            </a:r>
            <a:r>
              <a:rPr lang="en-US" sz="1650" dirty="0"/>
              <a:t> == </a:t>
            </a:r>
            <a:r>
              <a:rPr lang="en-US" sz="1650" dirty="0" err="1"/>
              <a:t>DayOfWeek.SATURDAY</a:t>
            </a:r>
            <a:r>
              <a:rPr lang="en-US" sz="1650" dirty="0"/>
              <a:t>) { </a:t>
            </a:r>
            <a:r>
              <a:rPr lang="en-US" sz="1650" dirty="0" err="1"/>
              <a:t>dayToAdd</a:t>
            </a:r>
            <a:r>
              <a:rPr lang="en-US" sz="1650" dirty="0"/>
              <a:t> = 2; }</a:t>
            </a:r>
          </a:p>
          <a:p>
            <a:pPr marL="0" indent="0">
              <a:buNone/>
            </a:pPr>
            <a:r>
              <a:rPr lang="en-US" sz="1650" dirty="0"/>
              <a:t>return </a:t>
            </a:r>
            <a:r>
              <a:rPr lang="en-US" sz="1650" dirty="0" err="1"/>
              <a:t>temporal.plus</a:t>
            </a:r>
            <a:r>
              <a:rPr lang="en-US" sz="1650" dirty="0"/>
              <a:t>(</a:t>
            </a:r>
            <a:r>
              <a:rPr lang="en-US" sz="1650" dirty="0" err="1"/>
              <a:t>dayToAdd</a:t>
            </a:r>
            <a:r>
              <a:rPr lang="en-US" sz="1650" dirty="0"/>
              <a:t>, </a:t>
            </a:r>
            <a:r>
              <a:rPr lang="en-US" sz="1650" dirty="0" err="1"/>
              <a:t>ChronoUnit.DAYS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/>
              <a:t>	}</a:t>
            </a:r>
          </a:p>
          <a:p>
            <a:pPr marL="0" indent="0">
              <a:buNone/>
            </a:pPr>
            <a:r>
              <a:rPr lang="en-US" sz="1650" dirty="0"/>
              <a:t>}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</a:t>
            </a:r>
            <a:r>
              <a:rPr lang="en-US" sz="1650" dirty="0" err="1"/>
              <a:t>nextWorkingDate</a:t>
            </a:r>
            <a:r>
              <a:rPr lang="en-US" sz="1650" dirty="0"/>
              <a:t> = </a:t>
            </a:r>
            <a:r>
              <a:rPr lang="en-US" sz="1650" dirty="0" err="1"/>
              <a:t>currentLocalDate.with</a:t>
            </a:r>
            <a:r>
              <a:rPr lang="en-US" sz="1650" dirty="0"/>
              <a:t>(new </a:t>
            </a:r>
            <a:r>
              <a:rPr lang="en-US" sz="1650" dirty="0" err="1"/>
              <a:t>NextWorkingDay</a:t>
            </a:r>
            <a:r>
              <a:rPr lang="en-US" sz="1650" dirty="0"/>
              <a:t>());</a:t>
            </a:r>
          </a:p>
          <a:p>
            <a:pPr marL="0" indent="0">
              <a:buNone/>
            </a:pPr>
            <a:r>
              <a:rPr lang="en-US" sz="1650" dirty="0" err="1"/>
              <a:t>System.out.println</a:t>
            </a:r>
            <a:r>
              <a:rPr lang="en-US" sz="1650" dirty="0"/>
              <a:t>("Next working day = " + </a:t>
            </a:r>
            <a:r>
              <a:rPr lang="en-US" sz="1650" dirty="0" err="1"/>
              <a:t>nextWorkingDate</a:t>
            </a:r>
            <a:r>
              <a:rPr lang="en-US" sz="1650" dirty="0"/>
              <a:t>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804B5-B7DE-47BC-92F8-7B97D374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5062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515100" cy="3829050"/>
          </a:xfrm>
        </p:spPr>
        <p:txBody>
          <a:bodyPr>
            <a:noAutofit/>
          </a:bodyPr>
          <a:lstStyle/>
          <a:p>
            <a:r>
              <a:rPr lang="en-US" sz="1650" dirty="0"/>
              <a:t>The new </a:t>
            </a:r>
            <a:r>
              <a:rPr lang="en-US" sz="1650" dirty="0" err="1"/>
              <a:t>java.time.format</a:t>
            </a:r>
            <a:r>
              <a:rPr lang="en-US" sz="1650" dirty="0"/>
              <a:t> package is devoted for date formatting purpose. The central class for date formatting is </a:t>
            </a:r>
            <a:r>
              <a:rPr lang="en-US" sz="1650" dirty="0" err="1"/>
              <a:t>DateTimeFormatter</a:t>
            </a:r>
            <a:r>
              <a:rPr lang="en-US" sz="1650" dirty="0"/>
              <a:t>.</a:t>
            </a:r>
          </a:p>
          <a:p>
            <a:r>
              <a:rPr lang="en-US" sz="1650" dirty="0"/>
              <a:t>The </a:t>
            </a:r>
            <a:r>
              <a:rPr lang="en-US" sz="1650" dirty="0" err="1"/>
              <a:t>java.util.DateFormat</a:t>
            </a:r>
            <a:r>
              <a:rPr lang="en-US" sz="1650" dirty="0"/>
              <a:t> class is thread unsafe where the new </a:t>
            </a:r>
            <a:r>
              <a:rPr lang="en-US" sz="1650" dirty="0" err="1"/>
              <a:t>DateTimeFormatter</a:t>
            </a:r>
            <a:r>
              <a:rPr lang="en-US" sz="1650" dirty="0"/>
              <a:t> is thread safe.</a:t>
            </a:r>
          </a:p>
          <a:p>
            <a:pPr marL="0" indent="0">
              <a:buNone/>
            </a:pPr>
            <a:r>
              <a:rPr lang="en-US" sz="1650" dirty="0" err="1"/>
              <a:t>DateTimeFormatter</a:t>
            </a:r>
            <a:r>
              <a:rPr lang="en-US" sz="1650" dirty="0"/>
              <a:t> formatter = </a:t>
            </a:r>
            <a:r>
              <a:rPr lang="en-US" sz="1650" dirty="0" err="1"/>
              <a:t>DateTimeFormatter.ofPattern</a:t>
            </a:r>
            <a:r>
              <a:rPr lang="en-US" sz="1650" dirty="0"/>
              <a:t>("</a:t>
            </a:r>
            <a:r>
              <a:rPr lang="en-US" sz="1650" dirty="0" err="1"/>
              <a:t>dd</a:t>
            </a:r>
            <a:r>
              <a:rPr lang="en-US" sz="1650" dirty="0"/>
              <a:t>/MM/</a:t>
            </a:r>
            <a:r>
              <a:rPr lang="en-US" sz="1650" dirty="0" err="1"/>
              <a:t>yyyy</a:t>
            </a:r>
            <a:r>
              <a:rPr lang="en-US" sz="1650" dirty="0"/>
              <a:t>");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date1 = </a:t>
            </a:r>
            <a:r>
              <a:rPr lang="en-US" sz="1650" dirty="0" err="1"/>
              <a:t>LocalDate.of</a:t>
            </a:r>
            <a:r>
              <a:rPr lang="en-US" sz="1650" dirty="0"/>
              <a:t>(2016, 4, 27);</a:t>
            </a:r>
          </a:p>
          <a:p>
            <a:pPr marL="0" indent="0">
              <a:buNone/>
            </a:pPr>
            <a:r>
              <a:rPr lang="en-US" sz="1650" dirty="0"/>
              <a:t>String </a:t>
            </a:r>
            <a:r>
              <a:rPr lang="en-US" sz="1650" dirty="0" err="1"/>
              <a:t>formattedDate</a:t>
            </a:r>
            <a:r>
              <a:rPr lang="en-US" sz="1650" dirty="0"/>
              <a:t> = date1.format(formatter);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date2 = </a:t>
            </a:r>
            <a:r>
              <a:rPr lang="en-US" sz="1650" dirty="0" err="1"/>
              <a:t>LocalDate.parse</a:t>
            </a:r>
            <a:r>
              <a:rPr lang="en-US" sz="1650" dirty="0"/>
              <a:t>(</a:t>
            </a:r>
            <a:r>
              <a:rPr lang="en-US" sz="1650" dirty="0" err="1"/>
              <a:t>formattedDate</a:t>
            </a:r>
            <a:r>
              <a:rPr lang="en-US" sz="1650" dirty="0"/>
              <a:t>, formatter);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date3 = </a:t>
            </a:r>
            <a:r>
              <a:rPr lang="en-US" sz="1650" dirty="0" err="1"/>
              <a:t>LocalDate.parse</a:t>
            </a:r>
            <a:r>
              <a:rPr lang="en-US" sz="1650" dirty="0"/>
              <a:t>("20140318", </a:t>
            </a:r>
            <a:r>
              <a:rPr lang="en-US" sz="1650" dirty="0" err="1"/>
              <a:t>DateTimeFormatter.BASIC_ISO_DATE</a:t>
            </a:r>
            <a:r>
              <a:rPr lang="en-US" sz="1650" dirty="0"/>
              <a:t>); </a:t>
            </a:r>
            <a:r>
              <a:rPr lang="en-US" sz="1650" dirty="0">
                <a:solidFill>
                  <a:srgbClr val="FF0000"/>
                </a:solidFill>
              </a:rPr>
              <a:t>//2014-03-18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date4 = </a:t>
            </a:r>
            <a:r>
              <a:rPr lang="en-US" sz="1650" dirty="0" err="1"/>
              <a:t>LocalDate.parse</a:t>
            </a:r>
            <a:r>
              <a:rPr lang="en-US" sz="1650" dirty="0"/>
              <a:t>("2014-03-18", </a:t>
            </a:r>
            <a:r>
              <a:rPr lang="en-US" sz="1650" dirty="0" err="1"/>
              <a:t>DateTimeFormatter.ISO_LOCAL_DATE</a:t>
            </a:r>
            <a:r>
              <a:rPr lang="en-US" sz="1650" dirty="0"/>
              <a:t>); </a:t>
            </a:r>
            <a:r>
              <a:rPr lang="en-US" sz="1650" dirty="0">
                <a:solidFill>
                  <a:srgbClr val="FF0000"/>
                </a:solidFill>
              </a:rPr>
              <a:t>//20140318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7765-3C27-415B-AF3F-C1E2E30D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64838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Localized Date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85900" y="914400"/>
            <a:ext cx="6515100" cy="38290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50" dirty="0" err="1"/>
              <a:t>DateTimeFormatter</a:t>
            </a:r>
            <a:r>
              <a:rPr lang="en-US" sz="1650" dirty="0"/>
              <a:t> </a:t>
            </a:r>
            <a:r>
              <a:rPr lang="en-US" sz="1650" dirty="0" err="1"/>
              <a:t>italianFormatter</a:t>
            </a:r>
            <a:r>
              <a:rPr lang="en-US" sz="1650" dirty="0"/>
              <a:t> =</a:t>
            </a:r>
          </a:p>
          <a:p>
            <a:pPr marL="0" indent="0">
              <a:buNone/>
            </a:pPr>
            <a:r>
              <a:rPr lang="en-US" sz="1650" dirty="0" err="1"/>
              <a:t>DateTimeFormatter.ofPattern</a:t>
            </a:r>
            <a:r>
              <a:rPr lang="en-US" sz="1650" dirty="0"/>
              <a:t>("d. MMMM </a:t>
            </a:r>
            <a:r>
              <a:rPr lang="en-US" sz="1650" dirty="0" err="1"/>
              <a:t>yyyy</a:t>
            </a:r>
            <a:r>
              <a:rPr lang="en-US" sz="1650" dirty="0"/>
              <a:t>", </a:t>
            </a:r>
            <a:r>
              <a:rPr lang="en-US" sz="1650" dirty="0" err="1"/>
              <a:t>Locale.ITALIAN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date3 = </a:t>
            </a:r>
            <a:r>
              <a:rPr lang="en-US" sz="1650" dirty="0" err="1"/>
              <a:t>LocalDate.of</a:t>
            </a:r>
            <a:r>
              <a:rPr lang="en-US" sz="1650" dirty="0"/>
              <a:t>(2014, 3, 18);</a:t>
            </a:r>
          </a:p>
          <a:p>
            <a:pPr marL="0" indent="0">
              <a:buNone/>
            </a:pPr>
            <a:r>
              <a:rPr lang="en-US" sz="1650" dirty="0"/>
              <a:t>String formattedDate_2 = date3.format(</a:t>
            </a:r>
            <a:r>
              <a:rPr lang="en-US" sz="1650" dirty="0" err="1"/>
              <a:t>italianFormatter</a:t>
            </a:r>
            <a:r>
              <a:rPr lang="en-US" sz="1650" dirty="0"/>
              <a:t>); </a:t>
            </a:r>
            <a:r>
              <a:rPr lang="en-US" sz="1650" dirty="0">
                <a:solidFill>
                  <a:srgbClr val="FF0000"/>
                </a:solidFill>
              </a:rPr>
              <a:t>//18. </a:t>
            </a:r>
            <a:r>
              <a:rPr lang="en-US" sz="1650" dirty="0" err="1">
                <a:solidFill>
                  <a:srgbClr val="FF0000"/>
                </a:solidFill>
              </a:rPr>
              <a:t>marzo</a:t>
            </a:r>
            <a:r>
              <a:rPr lang="en-US" sz="1650" dirty="0">
                <a:solidFill>
                  <a:srgbClr val="FF0000"/>
                </a:solidFill>
              </a:rPr>
              <a:t> 2014</a:t>
            </a:r>
          </a:p>
          <a:p>
            <a:pPr marL="0" indent="0">
              <a:buNone/>
            </a:pPr>
            <a:r>
              <a:rPr lang="en-US" sz="1650" dirty="0"/>
              <a:t>				</a:t>
            </a:r>
          </a:p>
          <a:p>
            <a:pPr marL="0" indent="0">
              <a:buNone/>
            </a:pPr>
            <a:r>
              <a:rPr lang="en-US" sz="1650" dirty="0" err="1"/>
              <a:t>DateTimeFormatter</a:t>
            </a:r>
            <a:r>
              <a:rPr lang="en-US" sz="1650" dirty="0"/>
              <a:t> </a:t>
            </a:r>
            <a:r>
              <a:rPr lang="en-US" sz="1650" dirty="0" err="1"/>
              <a:t>frenchFormatter</a:t>
            </a:r>
            <a:r>
              <a:rPr lang="en-US" sz="1650" dirty="0"/>
              <a:t> =</a:t>
            </a:r>
          </a:p>
          <a:p>
            <a:pPr marL="0" indent="0">
              <a:buNone/>
            </a:pPr>
            <a:r>
              <a:rPr lang="en-US" sz="1650" dirty="0" err="1"/>
              <a:t>DateTimeFormatter.ofPattern</a:t>
            </a:r>
            <a:r>
              <a:rPr lang="en-US" sz="1650" dirty="0"/>
              <a:t>("d. MMMM </a:t>
            </a:r>
            <a:r>
              <a:rPr lang="en-US" sz="1650" dirty="0" err="1"/>
              <a:t>yyyy</a:t>
            </a:r>
            <a:r>
              <a:rPr lang="en-US" sz="1650" dirty="0"/>
              <a:t>", </a:t>
            </a:r>
            <a:r>
              <a:rPr lang="en-US" sz="1650" dirty="0" err="1"/>
              <a:t>Locale.FRENCH</a:t>
            </a:r>
            <a:r>
              <a:rPr lang="en-US" sz="1650" dirty="0"/>
              <a:t>);</a:t>
            </a:r>
          </a:p>
          <a:p>
            <a:pPr marL="0" indent="0">
              <a:buNone/>
            </a:pPr>
            <a:r>
              <a:rPr lang="en-US" sz="1650" dirty="0" err="1"/>
              <a:t>LocalDate</a:t>
            </a:r>
            <a:r>
              <a:rPr lang="en-US" sz="1650" dirty="0"/>
              <a:t> date5 = </a:t>
            </a:r>
            <a:r>
              <a:rPr lang="en-US" sz="1650" dirty="0" err="1"/>
              <a:t>LocalDate.of</a:t>
            </a:r>
            <a:r>
              <a:rPr lang="en-US" sz="1650" dirty="0"/>
              <a:t>(2014, 3, 18);</a:t>
            </a:r>
          </a:p>
          <a:p>
            <a:pPr marL="0" indent="0">
              <a:buNone/>
            </a:pPr>
            <a:r>
              <a:rPr lang="en-US" sz="1650" dirty="0"/>
              <a:t>String formattedDate_3 = date5.format(</a:t>
            </a:r>
            <a:r>
              <a:rPr lang="en-US" sz="1650" dirty="0" err="1"/>
              <a:t>frenchFormatter</a:t>
            </a:r>
            <a:r>
              <a:rPr lang="en-US" sz="1650" dirty="0"/>
              <a:t>); </a:t>
            </a:r>
            <a:r>
              <a:rPr lang="en-US" sz="1650" dirty="0">
                <a:solidFill>
                  <a:srgbClr val="FF0000"/>
                </a:solidFill>
              </a:rPr>
              <a:t>//18. mars 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2F8FE-DFEA-4EE2-9136-44A9C1C5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131719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Java 8 provides a class </a:t>
            </a:r>
            <a:r>
              <a:rPr lang="en-US" dirty="0" err="1"/>
              <a:t>java.time.ZoneId</a:t>
            </a:r>
            <a:r>
              <a:rPr lang="en-US" dirty="0"/>
              <a:t> as a replacement of </a:t>
            </a:r>
            <a:r>
              <a:rPr lang="en-US" dirty="0" err="1"/>
              <a:t>java.util.TimeZone</a:t>
            </a:r>
            <a:r>
              <a:rPr lang="en-US" dirty="0"/>
              <a:t> class.</a:t>
            </a:r>
          </a:p>
          <a:p>
            <a:r>
              <a:rPr lang="en-US" dirty="0"/>
              <a:t>Here is a code to find out the current time in Rome:</a:t>
            </a:r>
          </a:p>
          <a:p>
            <a:pPr marL="205740" lvl="1" indent="0">
              <a:buNone/>
            </a:pPr>
            <a:r>
              <a:rPr lang="en-US" dirty="0" err="1"/>
              <a:t>ZoneId</a:t>
            </a:r>
            <a:r>
              <a:rPr lang="en-US" dirty="0"/>
              <a:t> </a:t>
            </a:r>
            <a:r>
              <a:rPr lang="en-US" dirty="0" err="1"/>
              <a:t>romeZone</a:t>
            </a:r>
            <a:r>
              <a:rPr lang="en-US" dirty="0"/>
              <a:t> = </a:t>
            </a:r>
            <a:r>
              <a:rPr lang="en-US" dirty="0" err="1"/>
              <a:t>ZoneId.of</a:t>
            </a:r>
            <a:r>
              <a:rPr lang="en-US" dirty="0"/>
              <a:t>("Europe/Rome");</a:t>
            </a:r>
          </a:p>
          <a:p>
            <a:pPr marL="205740" lvl="1" indent="0">
              <a:buNone/>
            </a:pPr>
            <a:r>
              <a:rPr lang="en-US" dirty="0" err="1"/>
              <a:t>LocalTime</a:t>
            </a:r>
            <a:r>
              <a:rPr lang="en-US" dirty="0"/>
              <a:t> localTime_2 = </a:t>
            </a:r>
            <a:r>
              <a:rPr lang="en-US" dirty="0" err="1"/>
              <a:t>LocalTime.now</a:t>
            </a:r>
            <a:r>
              <a:rPr lang="en-US" dirty="0"/>
              <a:t>(</a:t>
            </a:r>
            <a:r>
              <a:rPr lang="en-US" dirty="0" err="1"/>
              <a:t>romeZone</a:t>
            </a:r>
            <a:r>
              <a:rPr lang="en-US" dirty="0"/>
              <a:t>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8C5A-AA56-4136-94E6-BAA98D2AAD9B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47FFD-DCED-46BC-8C0A-D4DE470B2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</a:p>
        </p:txBody>
      </p:sp>
    </p:spTree>
    <p:extLst>
      <p:ext uri="{BB962C8B-B14F-4D97-AF65-F5344CB8AC3E}">
        <p14:creationId xmlns:p14="http://schemas.microsoft.com/office/powerpoint/2010/main" val="228074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20486"/>
            <a:ext cx="8229600" cy="185057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5400" i="1" dirty="0"/>
          </a:p>
          <a:p>
            <a:pPr marL="0" indent="0">
              <a:buNone/>
            </a:pPr>
            <a:endParaRPr lang="en-US" sz="5400" i="1" dirty="0"/>
          </a:p>
          <a:p>
            <a:pPr marL="0" indent="0" algn="ctr">
              <a:buNone/>
            </a:pPr>
            <a:r>
              <a:rPr lang="en-US" sz="5400" i="1" dirty="0"/>
              <a:t>Thank you!!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www.zensar.com | © Zensar Technologies 2024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B820D5-2FF0-4207-8524-A89A484E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2684-4689-452D-A296-215728BA279B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1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11155</TotalTime>
  <Words>6681</Words>
  <Application>Microsoft Office PowerPoint</Application>
  <PresentationFormat>On-screen Show (16:9)</PresentationFormat>
  <Paragraphs>805</Paragraphs>
  <Slides>82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3" baseType="lpstr">
      <vt:lpstr>Arial</vt:lpstr>
      <vt:lpstr>Arial Narrow</vt:lpstr>
      <vt:lpstr>Calibri</vt:lpstr>
      <vt:lpstr>Calibri Light</vt:lpstr>
      <vt:lpstr>Candara</vt:lpstr>
      <vt:lpstr>Consolas</vt:lpstr>
      <vt:lpstr>Helvetica Light</vt:lpstr>
      <vt:lpstr>Times New Roman</vt:lpstr>
      <vt:lpstr>Verdana</vt:lpstr>
      <vt:lpstr>Wingdings 3</vt:lpstr>
      <vt:lpstr>Office</vt:lpstr>
      <vt:lpstr>Java 1.8 features By Anand Kulkarni anand.kulkarni1@zensar.com</vt:lpstr>
      <vt:lpstr>Table of Content</vt:lpstr>
      <vt:lpstr>Functional interfaces &amp; Lambda expressions</vt:lpstr>
      <vt:lpstr>What is an Interface?</vt:lpstr>
      <vt:lpstr>Functional interface</vt:lpstr>
      <vt:lpstr>Functional interface example</vt:lpstr>
      <vt:lpstr>Lambda expressions</vt:lpstr>
      <vt:lpstr>Example</vt:lpstr>
      <vt:lpstr>Examples </vt:lpstr>
      <vt:lpstr>Quiz</vt:lpstr>
      <vt:lpstr>Predicate</vt:lpstr>
      <vt:lpstr>Consumer</vt:lpstr>
      <vt:lpstr>Supplier</vt:lpstr>
      <vt:lpstr>Function</vt:lpstr>
      <vt:lpstr>Primitive specializations</vt:lpstr>
      <vt:lpstr>IntPredicate</vt:lpstr>
      <vt:lpstr>DoubleFunction</vt:lpstr>
      <vt:lpstr>LongConsumer</vt:lpstr>
      <vt:lpstr>Functional Interfaces Continue…</vt:lpstr>
      <vt:lpstr>Functional Interfaces Continue…</vt:lpstr>
      <vt:lpstr>Functional Interfaces Continue…</vt:lpstr>
      <vt:lpstr>Functional Interfaces Continue…</vt:lpstr>
      <vt:lpstr>Function&lt;T, R&gt; default methods</vt:lpstr>
      <vt:lpstr>Predicate&lt;T&gt; default methods</vt:lpstr>
      <vt:lpstr>Method references</vt:lpstr>
      <vt:lpstr>Types of Method references</vt:lpstr>
      <vt:lpstr>Constructor references</vt:lpstr>
      <vt:lpstr>Method reference to static method</vt:lpstr>
      <vt:lpstr>Method reference to instance method</vt:lpstr>
      <vt:lpstr>Method reference to an existing object</vt:lpstr>
      <vt:lpstr>Reference to constructor</vt:lpstr>
      <vt:lpstr>Streams</vt:lpstr>
      <vt:lpstr>What are streams?</vt:lpstr>
      <vt:lpstr>What are streams?</vt:lpstr>
      <vt:lpstr>What are streams?</vt:lpstr>
      <vt:lpstr>What are streams?</vt:lpstr>
      <vt:lpstr>What are streams?</vt:lpstr>
      <vt:lpstr>Collections vs Streams</vt:lpstr>
      <vt:lpstr>Streams API</vt:lpstr>
      <vt:lpstr>Stream operations</vt:lpstr>
      <vt:lpstr>Stream operations…</vt:lpstr>
      <vt:lpstr>filter(Predicate p)</vt:lpstr>
      <vt:lpstr>distinct()</vt:lpstr>
      <vt:lpstr>limit(long maxSize)</vt:lpstr>
      <vt:lpstr>skip(long n)</vt:lpstr>
      <vt:lpstr>map(Function mapper)</vt:lpstr>
      <vt:lpstr>flatMap(Function Mapper)</vt:lpstr>
      <vt:lpstr>allMatch(Predicate p)</vt:lpstr>
      <vt:lpstr>anyMatch(Predicate p)</vt:lpstr>
      <vt:lpstr>noneMatch(Predicate p)</vt:lpstr>
      <vt:lpstr>findAny()</vt:lpstr>
      <vt:lpstr>findFirst()</vt:lpstr>
      <vt:lpstr>sorted(Comparator c)</vt:lpstr>
      <vt:lpstr>reduce()</vt:lpstr>
      <vt:lpstr>forEach(Consumer c)</vt:lpstr>
      <vt:lpstr>collect(Collector c)</vt:lpstr>
      <vt:lpstr>count()</vt:lpstr>
      <vt:lpstr>iterate()</vt:lpstr>
      <vt:lpstr>Numeric Streams</vt:lpstr>
      <vt:lpstr>Numeric Streams</vt:lpstr>
      <vt:lpstr>Collectors</vt:lpstr>
      <vt:lpstr>Predefined collectors</vt:lpstr>
      <vt:lpstr>Reducing and summarizing</vt:lpstr>
      <vt:lpstr>Grouping</vt:lpstr>
      <vt:lpstr>Partitioning</vt:lpstr>
      <vt:lpstr>Parallel Streams</vt:lpstr>
      <vt:lpstr>Decision between Sequential stream &amp; Parallel stream</vt:lpstr>
      <vt:lpstr>Date APIs</vt:lpstr>
      <vt:lpstr>Limitations of Date APIs prior to Java 8</vt:lpstr>
      <vt:lpstr>Introduction to Java 8 Date APIs</vt:lpstr>
      <vt:lpstr>LocalDate</vt:lpstr>
      <vt:lpstr>LocalTime</vt:lpstr>
      <vt:lpstr>LocalDateTime</vt:lpstr>
      <vt:lpstr>Duration</vt:lpstr>
      <vt:lpstr>Period</vt:lpstr>
      <vt:lpstr>TemporalAdjusters</vt:lpstr>
      <vt:lpstr>TemporalAdjusters continue…</vt:lpstr>
      <vt:lpstr>Custom TemporalAdjusters</vt:lpstr>
      <vt:lpstr>Date formatting</vt:lpstr>
      <vt:lpstr>Localized Date formatting</vt:lpstr>
      <vt:lpstr>Time Zones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Security</dc:title>
  <dc:creator>Anand</dc:creator>
  <cp:lastModifiedBy>Anand Kulkarni</cp:lastModifiedBy>
  <cp:revision>38</cp:revision>
  <dcterms:created xsi:type="dcterms:W3CDTF">2021-04-07T03:55:44Z</dcterms:created>
  <dcterms:modified xsi:type="dcterms:W3CDTF">2024-03-06T03:04:27Z</dcterms:modified>
</cp:coreProperties>
</file>